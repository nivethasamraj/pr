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147481700" r:id="rId2"/>
    <p:sldId id="2147481710" r:id="rId3"/>
    <p:sldId id="2147481714" r:id="rId4"/>
    <p:sldId id="2147481715" r:id="rId5"/>
    <p:sldId id="2147481711" r:id="rId6"/>
    <p:sldId id="2147481688" r:id="rId7"/>
    <p:sldId id="2147481712" r:id="rId8"/>
    <p:sldId id="2147481685" r:id="rId9"/>
    <p:sldId id="2147481686" r:id="rId10"/>
    <p:sldId id="2147481713" r:id="rId11"/>
    <p:sldId id="256" r:id="rId12"/>
    <p:sldId id="258" r:id="rId13"/>
    <p:sldId id="2147481720" r:id="rId14"/>
    <p:sldId id="259" r:id="rId15"/>
    <p:sldId id="547" r:id="rId16"/>
    <p:sldId id="257" r:id="rId17"/>
    <p:sldId id="548" r:id="rId18"/>
    <p:sldId id="2147481689" r:id="rId19"/>
    <p:sldId id="214748170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98810-69C9-14B1-48A4-690314317EE1}" v="1246" dt="2026-06-17T12:40:26.849"/>
    <p1510:client id="{B15EBFFE-349D-8C10-95E0-E424CBE9D32E}" v="165" dt="2026-06-17T10:31:27.693"/>
    <p1510:client id="{B2AAFF4C-C030-F8CF-32F5-D6FA505F8E9E}" v="7" dt="2026-06-18T05:02:24.457"/>
    <p1510:client id="{B645BBBD-947A-7C72-9DBC-22B83B255327}" v="125" dt="2026-06-17T13:42:19.524"/>
    <p1510:client id="{B7263528-15EF-B1DA-ED32-01E89E2FDEFB}" v="4" dt="2026-06-17T10:16:06.111"/>
    <p1510:client id="{D2E7F428-A677-BEBA-0D21-0B6BA5512139}" v="6" dt="2026-06-18T10:07:21.655"/>
    <p1510:client id="{FCD48506-F5B4-4785-CBCD-152FACEC2516}" v="24" dt="2026-06-18T04:05:41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vetha Samraj" userId="S::nivetha.samraj@aspiresys.com::455ff30d-6ec6-45ff-9729-6678ed095275" providerId="AD" clId="Web-{B2AAFF4C-C030-F8CF-32F5-D6FA505F8E9E}"/>
    <pc:docChg chg="modSld">
      <pc:chgData name="Nivetha Samraj" userId="S::nivetha.samraj@aspiresys.com::455ff30d-6ec6-45ff-9729-6678ed095275" providerId="AD" clId="Web-{B2AAFF4C-C030-F8CF-32F5-D6FA505F8E9E}" dt="2026-06-18T05:02:24.457" v="8" actId="1076"/>
      <pc:docMkLst>
        <pc:docMk/>
      </pc:docMkLst>
      <pc:sldChg chg="addSp modSp">
        <pc:chgData name="Nivetha Samraj" userId="S::nivetha.samraj@aspiresys.com::455ff30d-6ec6-45ff-9729-6678ed095275" providerId="AD" clId="Web-{B2AAFF4C-C030-F8CF-32F5-D6FA505F8E9E}" dt="2026-06-18T05:00:26.516" v="0"/>
        <pc:sldMkLst>
          <pc:docMk/>
          <pc:sldMk cId="0" sldId="2147481700"/>
        </pc:sldMkLst>
        <pc:spChg chg="mod">
          <ac:chgData name="Nivetha Samraj" userId="S::nivetha.samraj@aspiresys.com::455ff30d-6ec6-45ff-9729-6678ed095275" providerId="AD" clId="Web-{B2AAFF4C-C030-F8CF-32F5-D6FA505F8E9E}" dt="2026-06-18T05:00:26.516" v="0"/>
          <ac:spMkLst>
            <pc:docMk/>
            <pc:sldMk cId="0" sldId="2147481700"/>
            <ac:spMk id="52" creationId="{00000000-0000-0000-0000-000000000000}"/>
          </ac:spMkLst>
        </pc:spChg>
        <pc:spChg chg="mod">
          <ac:chgData name="Nivetha Samraj" userId="S::nivetha.samraj@aspiresys.com::455ff30d-6ec6-45ff-9729-6678ed095275" providerId="AD" clId="Web-{B2AAFF4C-C030-F8CF-32F5-D6FA505F8E9E}" dt="2026-06-18T05:00:26.516" v="0"/>
          <ac:spMkLst>
            <pc:docMk/>
            <pc:sldMk cId="0" sldId="2147481700"/>
            <ac:spMk id="53" creationId="{00000000-0000-0000-0000-000000000000}"/>
          </ac:spMkLst>
        </pc:spChg>
        <pc:spChg chg="add">
          <ac:chgData name="Nivetha Samraj" userId="S::nivetha.samraj@aspiresys.com::455ff30d-6ec6-45ff-9729-6678ed095275" providerId="AD" clId="Web-{B2AAFF4C-C030-F8CF-32F5-D6FA505F8E9E}" dt="2026-06-18T05:00:26.516" v="0"/>
          <ac:spMkLst>
            <pc:docMk/>
            <pc:sldMk cId="0" sldId="2147481700"/>
            <ac:spMk id="58" creationId="{D4E68339-1B90-44F9-BCC4-4600A6E240A2}"/>
          </ac:spMkLst>
        </pc:spChg>
        <pc:picChg chg="mod">
          <ac:chgData name="Nivetha Samraj" userId="S::nivetha.samraj@aspiresys.com::455ff30d-6ec6-45ff-9729-6678ed095275" providerId="AD" clId="Web-{B2AAFF4C-C030-F8CF-32F5-D6FA505F8E9E}" dt="2026-06-18T05:00:26.516" v="0"/>
          <ac:picMkLst>
            <pc:docMk/>
            <pc:sldMk cId="0" sldId="2147481700"/>
            <ac:picMk id="50" creationId="{00000000-0000-0000-0000-000000000000}"/>
          </ac:picMkLst>
        </pc:picChg>
      </pc:sldChg>
      <pc:sldChg chg="modSp">
        <pc:chgData name="Nivetha Samraj" userId="S::nivetha.samraj@aspiresys.com::455ff30d-6ec6-45ff-9729-6678ed095275" providerId="AD" clId="Web-{B2AAFF4C-C030-F8CF-32F5-D6FA505F8E9E}" dt="2026-06-18T05:00:42.516" v="1" actId="1076"/>
        <pc:sldMkLst>
          <pc:docMk/>
          <pc:sldMk cId="0" sldId="2147481710"/>
        </pc:sldMkLst>
        <pc:spChg chg="mod">
          <ac:chgData name="Nivetha Samraj" userId="S::nivetha.samraj@aspiresys.com::455ff30d-6ec6-45ff-9729-6678ed095275" providerId="AD" clId="Web-{B2AAFF4C-C030-F8CF-32F5-D6FA505F8E9E}" dt="2026-06-18T05:00:42.516" v="1" actId="1076"/>
          <ac:spMkLst>
            <pc:docMk/>
            <pc:sldMk cId="0" sldId="2147481710"/>
            <ac:spMk id="12" creationId="{00000000-0000-0000-0000-000000000000}"/>
          </ac:spMkLst>
        </pc:spChg>
      </pc:sldChg>
      <pc:sldChg chg="modSp">
        <pc:chgData name="Nivetha Samraj" userId="S::nivetha.samraj@aspiresys.com::455ff30d-6ec6-45ff-9729-6678ed095275" providerId="AD" clId="Web-{B2AAFF4C-C030-F8CF-32F5-D6FA505F8E9E}" dt="2026-06-18T05:00:45.548" v="2" actId="1076"/>
        <pc:sldMkLst>
          <pc:docMk/>
          <pc:sldMk cId="0" sldId="2147481711"/>
        </pc:sldMkLst>
        <pc:spChg chg="mod">
          <ac:chgData name="Nivetha Samraj" userId="S::nivetha.samraj@aspiresys.com::455ff30d-6ec6-45ff-9729-6678ed095275" providerId="AD" clId="Web-{B2AAFF4C-C030-F8CF-32F5-D6FA505F8E9E}" dt="2026-06-18T05:00:45.548" v="2" actId="1076"/>
          <ac:spMkLst>
            <pc:docMk/>
            <pc:sldMk cId="0" sldId="2147481711"/>
            <ac:spMk id="12" creationId="{00000000-0000-0000-0000-000000000000}"/>
          </ac:spMkLst>
        </pc:spChg>
      </pc:sldChg>
      <pc:sldChg chg="modSp">
        <pc:chgData name="Nivetha Samraj" userId="S::nivetha.samraj@aspiresys.com::455ff30d-6ec6-45ff-9729-6678ed095275" providerId="AD" clId="Web-{B2AAFF4C-C030-F8CF-32F5-D6FA505F8E9E}" dt="2026-06-18T05:00:53.267" v="3" actId="1076"/>
        <pc:sldMkLst>
          <pc:docMk/>
          <pc:sldMk cId="0" sldId="2147481712"/>
        </pc:sldMkLst>
        <pc:spChg chg="mod">
          <ac:chgData name="Nivetha Samraj" userId="S::nivetha.samraj@aspiresys.com::455ff30d-6ec6-45ff-9729-6678ed095275" providerId="AD" clId="Web-{B2AAFF4C-C030-F8CF-32F5-D6FA505F8E9E}" dt="2026-06-18T05:00:53.267" v="3" actId="1076"/>
          <ac:spMkLst>
            <pc:docMk/>
            <pc:sldMk cId="0" sldId="2147481712"/>
            <ac:spMk id="12" creationId="{00000000-0000-0000-0000-000000000000}"/>
          </ac:spMkLst>
        </pc:spChg>
      </pc:sldChg>
      <pc:sldChg chg="addSp delSp modSp mod setBg">
        <pc:chgData name="Nivetha Samraj" userId="S::nivetha.samraj@aspiresys.com::455ff30d-6ec6-45ff-9729-6678ed095275" providerId="AD" clId="Web-{B2AAFF4C-C030-F8CF-32F5-D6FA505F8E9E}" dt="2026-06-18T05:02:09.879" v="7"/>
        <pc:sldMkLst>
          <pc:docMk/>
          <pc:sldMk cId="0" sldId="2147481713"/>
        </pc:sldMkLst>
        <pc:spChg chg="mod">
          <ac:chgData name="Nivetha Samraj" userId="S::nivetha.samraj@aspiresys.com::455ff30d-6ec6-45ff-9729-6678ed095275" providerId="AD" clId="Web-{B2AAFF4C-C030-F8CF-32F5-D6FA505F8E9E}" dt="2026-06-18T05:02:09.879" v="7"/>
          <ac:spMkLst>
            <pc:docMk/>
            <pc:sldMk cId="0" sldId="2147481713"/>
            <ac:spMk id="11" creationId="{00000000-0000-0000-0000-000000000000}"/>
          </ac:spMkLst>
        </pc:spChg>
        <pc:spChg chg="mod">
          <ac:chgData name="Nivetha Samraj" userId="S::nivetha.samraj@aspiresys.com::455ff30d-6ec6-45ff-9729-6678ed095275" providerId="AD" clId="Web-{B2AAFF4C-C030-F8CF-32F5-D6FA505F8E9E}" dt="2026-06-18T05:02:09.879" v="7"/>
          <ac:spMkLst>
            <pc:docMk/>
            <pc:sldMk cId="0" sldId="2147481713"/>
            <ac:spMk id="12" creationId="{00000000-0000-0000-0000-000000000000}"/>
          </ac:spMkLst>
        </pc:spChg>
        <pc:spChg chg="add del">
          <ac:chgData name="Nivetha Samraj" userId="S::nivetha.samraj@aspiresys.com::455ff30d-6ec6-45ff-9729-6678ed095275" providerId="AD" clId="Web-{B2AAFF4C-C030-F8CF-32F5-D6FA505F8E9E}" dt="2026-06-18T05:02:09.879" v="7"/>
          <ac:spMkLst>
            <pc:docMk/>
            <pc:sldMk cId="0" sldId="2147481713"/>
            <ac:spMk id="17" creationId="{09588DA8-065E-4F6F-8EFD-43104AB2E0CF}"/>
          </ac:spMkLst>
        </pc:spChg>
        <pc:spChg chg="add del">
          <ac:chgData name="Nivetha Samraj" userId="S::nivetha.samraj@aspiresys.com::455ff30d-6ec6-45ff-9729-6678ed095275" providerId="AD" clId="Web-{B2AAFF4C-C030-F8CF-32F5-D6FA505F8E9E}" dt="2026-06-18T05:02:09.879" v="7"/>
          <ac:spMkLst>
            <pc:docMk/>
            <pc:sldMk cId="0" sldId="2147481713"/>
            <ac:spMk id="19" creationId="{C4285719-470E-454C-AF62-8323075F1F5B}"/>
          </ac:spMkLst>
        </pc:spChg>
        <pc:spChg chg="add del">
          <ac:chgData name="Nivetha Samraj" userId="S::nivetha.samraj@aspiresys.com::455ff30d-6ec6-45ff-9729-6678ed095275" providerId="AD" clId="Web-{B2AAFF4C-C030-F8CF-32F5-D6FA505F8E9E}" dt="2026-06-18T05:02:09.879" v="7"/>
          <ac:spMkLst>
            <pc:docMk/>
            <pc:sldMk cId="0" sldId="2147481713"/>
            <ac:spMk id="21" creationId="{CD9FE4EF-C4D8-49A0-B2FF-81D8DB7D8A24}"/>
          </ac:spMkLst>
        </pc:spChg>
        <pc:spChg chg="add del">
          <ac:chgData name="Nivetha Samraj" userId="S::nivetha.samraj@aspiresys.com::455ff30d-6ec6-45ff-9729-6678ed095275" providerId="AD" clId="Web-{B2AAFF4C-C030-F8CF-32F5-D6FA505F8E9E}" dt="2026-06-18T05:02:09.879" v="7"/>
          <ac:spMkLst>
            <pc:docMk/>
            <pc:sldMk cId="0" sldId="2147481713"/>
            <ac:spMk id="23" creationId="{4300840D-0A0B-4512-BACA-B439D5B9C57C}"/>
          </ac:spMkLst>
        </pc:spChg>
        <pc:spChg chg="add del">
          <ac:chgData name="Nivetha Samraj" userId="S::nivetha.samraj@aspiresys.com::455ff30d-6ec6-45ff-9729-6678ed095275" providerId="AD" clId="Web-{B2AAFF4C-C030-F8CF-32F5-D6FA505F8E9E}" dt="2026-06-18T05:02:09.879" v="7"/>
          <ac:spMkLst>
            <pc:docMk/>
            <pc:sldMk cId="0" sldId="2147481713"/>
            <ac:spMk id="25" creationId="{D2B78728-A580-49A7-84F9-6EF6F583ADE0}"/>
          </ac:spMkLst>
        </pc:spChg>
        <pc:spChg chg="add del">
          <ac:chgData name="Nivetha Samraj" userId="S::nivetha.samraj@aspiresys.com::455ff30d-6ec6-45ff-9729-6678ed095275" providerId="AD" clId="Web-{B2AAFF4C-C030-F8CF-32F5-D6FA505F8E9E}" dt="2026-06-18T05:02:09.879" v="7"/>
          <ac:spMkLst>
            <pc:docMk/>
            <pc:sldMk cId="0" sldId="2147481713"/>
            <ac:spMk id="27" creationId="{38FAA1A1-D861-433F-88FA-1E9D6FD31D11}"/>
          </ac:spMkLst>
        </pc:spChg>
        <pc:spChg chg="add del">
          <ac:chgData name="Nivetha Samraj" userId="S::nivetha.samraj@aspiresys.com::455ff30d-6ec6-45ff-9729-6678ed095275" providerId="AD" clId="Web-{B2AAFF4C-C030-F8CF-32F5-D6FA505F8E9E}" dt="2026-06-18T05:02:09.879" v="7"/>
          <ac:spMkLst>
            <pc:docMk/>
            <pc:sldMk cId="0" sldId="2147481713"/>
            <ac:spMk id="29" creationId="{8D71EDA1-87BF-4D5D-AB79-F346FD19278A}"/>
          </ac:spMkLst>
        </pc:spChg>
      </pc:sldChg>
      <pc:sldChg chg="modSp">
        <pc:chgData name="Nivetha Samraj" userId="S::nivetha.samraj@aspiresys.com::455ff30d-6ec6-45ff-9729-6678ed095275" providerId="AD" clId="Web-{B2AAFF4C-C030-F8CF-32F5-D6FA505F8E9E}" dt="2026-06-18T05:02:24.457" v="8" actId="1076"/>
        <pc:sldMkLst>
          <pc:docMk/>
          <pc:sldMk cId="0" sldId="2147481720"/>
        </pc:sldMkLst>
        <pc:spChg chg="mod">
          <ac:chgData name="Nivetha Samraj" userId="S::nivetha.samraj@aspiresys.com::455ff30d-6ec6-45ff-9729-6678ed095275" providerId="AD" clId="Web-{B2AAFF4C-C030-F8CF-32F5-D6FA505F8E9E}" dt="2026-06-18T05:02:24.457" v="8" actId="1076"/>
          <ac:spMkLst>
            <pc:docMk/>
            <pc:sldMk cId="0" sldId="2147481720"/>
            <ac:spMk id="12" creationId="{00000000-0000-0000-0000-000000000000}"/>
          </ac:spMkLst>
        </pc:spChg>
      </pc:sldChg>
    </pc:docChg>
  </pc:docChgLst>
  <pc:docChgLst>
    <pc:chgData name="Vinoth Vasu" userId="S::vinoth.vasu@aspiresys.com::44971439-0ef2-43a0-a3fc-63b0ae80403a" providerId="AD" clId="Web-{D2E7F428-A677-BEBA-0D21-0B6BA5512139}"/>
    <pc:docChg chg="modSld">
      <pc:chgData name="Vinoth Vasu" userId="S::vinoth.vasu@aspiresys.com::44971439-0ef2-43a0-a3fc-63b0ae80403a" providerId="AD" clId="Web-{D2E7F428-A677-BEBA-0D21-0B6BA5512139}" dt="2026-06-18T10:07:21.655" v="5" actId="14100"/>
      <pc:docMkLst>
        <pc:docMk/>
      </pc:docMkLst>
      <pc:sldChg chg="modSp">
        <pc:chgData name="Vinoth Vasu" userId="S::vinoth.vasu@aspiresys.com::44971439-0ef2-43a0-a3fc-63b0ae80403a" providerId="AD" clId="Web-{D2E7F428-A677-BEBA-0D21-0B6BA5512139}" dt="2026-06-18T10:06:24.607" v="0" actId="14100"/>
        <pc:sldMkLst>
          <pc:docMk/>
          <pc:sldMk cId="0" sldId="256"/>
        </pc:sldMkLst>
        <pc:spChg chg="mod">
          <ac:chgData name="Vinoth Vasu" userId="S::vinoth.vasu@aspiresys.com::44971439-0ef2-43a0-a3fc-63b0ae80403a" providerId="AD" clId="Web-{D2E7F428-A677-BEBA-0D21-0B6BA5512139}" dt="2026-06-18T10:06:24.607" v="0" actId="14100"/>
          <ac:spMkLst>
            <pc:docMk/>
            <pc:sldMk cId="0" sldId="256"/>
            <ac:spMk id="860" creationId="{00000000-0000-0000-0000-000000000000}"/>
          </ac:spMkLst>
        </pc:spChg>
      </pc:sldChg>
      <pc:sldChg chg="modSp">
        <pc:chgData name="Vinoth Vasu" userId="S::vinoth.vasu@aspiresys.com::44971439-0ef2-43a0-a3fc-63b0ae80403a" providerId="AD" clId="Web-{D2E7F428-A677-BEBA-0D21-0B6BA5512139}" dt="2026-06-18T10:07:21.655" v="5" actId="14100"/>
        <pc:sldMkLst>
          <pc:docMk/>
          <pc:sldMk cId="3857347072" sldId="259"/>
        </pc:sldMkLst>
        <pc:spChg chg="mod">
          <ac:chgData name="Vinoth Vasu" userId="S::vinoth.vasu@aspiresys.com::44971439-0ef2-43a0-a3fc-63b0ae80403a" providerId="AD" clId="Web-{D2E7F428-A677-BEBA-0D21-0B6BA5512139}" dt="2026-06-18T10:07:21.655" v="5" actId="14100"/>
          <ac:spMkLst>
            <pc:docMk/>
            <pc:sldMk cId="3857347072" sldId="259"/>
            <ac:spMk id="4" creationId="{FAAE73F4-B00F-F35E-6B47-5E4DD20367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EA6CB-C57E-491A-96CE-B952AE6437D0}" type="datetimeFigureOut"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779D-6FF1-4F24-9B7E-68862E79B2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3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5CF0-9107-1E7A-7813-E1EEEC21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74EB5-6A95-EA33-5112-482F1E9B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B44D8-5E48-3DAC-292F-754773A5D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D95B-5EE6-87AB-09AA-805ED285E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5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A6C11-E66C-A678-53C8-199576AF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5B1D7-E5C1-A8A2-D146-005C4705B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EE276-6D80-56F5-8422-B297E2E0E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AC62C-F3A6-80C3-E222-6AAACDFC3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89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Calibri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alibri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Calibri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D4E68339-1B90-44F9-BCC4-4600A6E24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itle"/>
          <p:cNvSpPr txBox="1"/>
          <p:nvPr/>
        </p:nvSpPr>
        <p:spPr>
          <a:xfrm>
            <a:off x="1525712" y="2400475"/>
            <a:ext cx="9142288" cy="20682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AUTOMATION ASSESSMENT &amp; ROADMAP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" name="Subtitle"/>
          <p:cNvSpPr txBox="1"/>
          <p:nvPr/>
        </p:nvSpPr>
        <p:spPr>
          <a:xfrm>
            <a:off x="1525712" y="4629235"/>
            <a:ext cx="9142288" cy="1488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Assessing current automation landscape and charting the path to a unified, AI-powered framework.</a:t>
            </a:r>
          </a:p>
        </p:txBody>
      </p:sp>
      <p:pic>
        <p:nvPicPr>
          <p:cNvPr id="5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14" y="1121797"/>
            <a:ext cx="933572" cy="10995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Challenges in the Current Framework Landscape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331494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>
                <a:solidFill>
                  <a:srgbClr val="EAEFF7"/>
                </a:solidFill>
              </a:rPr>
              <a:t>Our research shows the current framework has significant drawbacks — a strong case for moving to a unified approach.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51093" y="1067557"/>
            <a:ext cx="10120191" cy="1140124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>
                <a:ea typeface="Calibri"/>
                <a:cs typeface="Calibri"/>
              </a:rPr>
              <a:t>Multiple Frameworks Across Applications</a:t>
            </a:r>
          </a:p>
          <a:p>
            <a:endParaRPr lang="en-IN" sz="160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>
              <a:solidFill>
                <a:srgbClr val="1A3252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Different implementations and standards across projects (BDD, TestNG, etc.).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1A3252"/>
          </a:solidFill>
          <a:ln w="12700">
            <a:solidFill>
              <a:srgbClr val="1A325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089784" y="2389328"/>
            <a:ext cx="10269405" cy="113508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1A325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Obsolete and Redundant Components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Some suites and utilities are no longer actively maintained, and deprecated test cases continue to exist in execution suites.</a:t>
            </a: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Fragmented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Business logic, element interactions, and utilities are distributed across multiple layers, increasing complexity.</a:t>
            </a: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324244" y="5133180"/>
            <a:ext cx="9865611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4933" y="5274520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High Maintenance Effort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Frequent locator updates increase maintenance overhead.</a:t>
            </a: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  <p:sp>
        <p:nvSpPr>
          <p:cNvPr id="970" name="Contd"/>
          <p:cNvSpPr txBox="1"/>
          <p:nvPr/>
        </p:nvSpPr>
        <p:spPr>
          <a:xfrm>
            <a:off x="4671889" y="6396862"/>
            <a:ext cx="11172375" cy="5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800" b="1" i="1">
                <a:solidFill>
                  <a:srgbClr val="64748B"/>
                </a:solidFill>
                <a:latin typeface="Calibri"/>
                <a:cs typeface="Calibri"/>
              </a:rPr>
              <a:t>(contd.)</a:t>
            </a:r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389184" y="1146541"/>
            <a:ext cx="9982099" cy="106113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>
                <a:ea typeface="Calibri"/>
                <a:cs typeface="Calibri"/>
              </a:rPr>
              <a:t>Inconsistent Test Data Management</a:t>
            </a:r>
          </a:p>
          <a:p>
            <a:endParaRPr lang="en-IN" sz="160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>
              <a:solidFill>
                <a:srgbClr val="1A3252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Multiple test data sources and synchronization issues impact test reliability.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1A3252"/>
          </a:solidFill>
          <a:ln w="12700">
            <a:solidFill>
              <a:srgbClr val="1A325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27137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1A325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Limited Test Traceability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Test cases are not functionally grouped, making maintenance and impact analysis difficult.</a:t>
            </a: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Insufficient Validation and Visibility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Limited step-level verification and debugging capabilities.</a:t>
            </a: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389184" y="5133180"/>
            <a:ext cx="9800672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4933" y="5344200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Lack of AI Adoption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No AI-assisted failure analysis, test insights, or intelligent reporting.</a:t>
            </a: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Why Aspire Unified Framework (AFTA)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3807619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>
                <a:solidFill>
                  <a:srgbClr val="EAEFF7"/>
                </a:solidFill>
              </a:rPr>
              <a:t>Here is why a single, AI-powered framework across all brands is the right way forward.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81079" y="1005031"/>
            <a:ext cx="9908777" cy="120264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>
                <a:ea typeface="Calibri"/>
                <a:cs typeface="Calibri"/>
              </a:rPr>
              <a:t>  AI-Powered Automation</a:t>
            </a:r>
          </a:p>
          <a:p>
            <a:endParaRPr lang="en-IN" sz="160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>
              <a:solidFill>
                <a:srgbClr val="1A3252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4677" y="1373578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AI Self-Healing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for automatic recovery from locator changes.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AI Auto POM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to generate and maintain page objects automatically.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Report Portal-Powered </a:t>
            </a:r>
            <a:r>
              <a:rPr lang="en-US" sz="1600" b="1">
                <a:ea typeface="+mn-lt"/>
                <a:cs typeface="+mn-lt"/>
              </a:rPr>
              <a:t>Analytics</a:t>
            </a:r>
            <a:r>
              <a:rPr lang="en-US" sz="1600">
                <a:ea typeface="+mn-lt"/>
                <a:cs typeface="+mn-lt"/>
              </a:rPr>
              <a:t> for AI-driven failure analysis, execution insights, and trend identification.</a:t>
            </a:r>
            <a:endParaRPr lang="en-US"/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1A3252"/>
          </a:solidFill>
          <a:ln w="12700">
            <a:solidFill>
              <a:srgbClr val="1A325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86477"/>
            <a:ext cx="9938763" cy="103793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1A325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One Framework Across Brands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Standardized automation framework across all brands, including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Orpos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Reduced framework duplication and maintenance effort.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9" y="3708430"/>
            <a:ext cx="9917728" cy="1166906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Modern Playwright-Based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Faster execution with </a:t>
            </a: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up to 60% improvement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compared to the current Selenium-based approach.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Built-in auto-wait mechanisms for improved stability.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Supports parallel execution for reduced regression cycle time.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081760" y="5133180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3578" y="5247207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Enhanced Debugging and Observability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Trace Viewer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– Replay test execution step-by-step with screenshots, network calls, DOM snapshots, and timings for faster root cause analysis.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Rich execution reports with screenshots and detailed logs.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Auto POM – Intelligent Locator &amp; AI Fallback Strategy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331494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>
                <a:solidFill>
                  <a:srgbClr val="EAEFF7"/>
                </a:solidFill>
              </a:rPr>
              <a:t>How intelligent, multi-level locator generation with AI fallback makes automation faster and far easier to maintain.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E174-C077-4DC5-F9F0-E2221529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BizValue"/>
          <p:cNvSpPr txBox="1"/>
          <p:nvPr/>
        </p:nvSpPr>
        <p:spPr>
          <a:xfrm>
            <a:off x="900000" y="360000"/>
            <a:ext cx="9500000" cy="78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>
                <a:solidFill>
                  <a:srgbClr val="24466E"/>
                </a:solidFill>
                <a:latin typeface="Calibri"/>
                <a:cs typeface="Calibri"/>
              </a:rPr>
              <a:t>Business Value :</a:t>
            </a:r>
            <a:br>
              <a:rPr lang="en-US" sz="1600" b="1">
                <a:solidFill>
                  <a:srgbClr val="24466E"/>
                </a:solidFill>
                <a:latin typeface="Calibri"/>
                <a:cs typeface="Calibri"/>
              </a:rPr>
            </a:br>
            <a:r>
              <a:rPr lang="en-US" sz="1600" b="1">
                <a:solidFill>
                  <a:srgbClr val="24466E"/>
                </a:solidFill>
                <a:latin typeface="Calibri"/>
                <a:cs typeface="Calibri"/>
              </a:rPr>
              <a:t>Auto POM is a Chrome extension that creates production-ready Page functions — eliminating manual locator management and reducing script failures.</a:t>
            </a:r>
          </a:p>
        </p:txBody>
      </p:sp>
      <p:sp>
        <p:nvSpPr>
          <p:cNvPr id="850" name="Bullets BG"/>
          <p:cNvSpPr/>
          <p:nvPr/>
        </p:nvSpPr>
        <p:spPr>
          <a:xfrm>
            <a:off x="520000" y="1140000"/>
            <a:ext cx="10868774" cy="1505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Bullets"/>
          <p:cNvSpPr txBox="1"/>
          <p:nvPr/>
        </p:nvSpPr>
        <p:spPr>
          <a:xfrm>
            <a:off x="700000" y="1300000"/>
            <a:ext cx="10508774" cy="1185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285750" indent="-285750">
              <a:buFont typeface="Calibri"/>
              <a:buChar char="•"/>
            </a:pPr>
            <a:r>
              <a:rPr lang="en-US" sz="1600" b="1">
                <a:solidFill>
                  <a:srgbClr val="1E3A5C"/>
                </a:solidFill>
                <a:latin typeface="Calibri"/>
                <a:cs typeface="Calibri"/>
              </a:rPr>
              <a:t>Objective — </a:t>
            </a:r>
            <a:r>
              <a:rPr lang="en-US" sz="1600">
                <a:solidFill>
                  <a:srgbClr val="334155"/>
                </a:solidFill>
                <a:latin typeface="Calibri"/>
                <a:cs typeface="Calibri"/>
              </a:rPr>
              <a:t>Generate robust, maintainable POM locators and automation-ready code via a multi-level fallback strategy with AI assistance.</a:t>
            </a:r>
          </a:p>
          <a:p>
            <a:pPr marL="285750" indent="-285750">
              <a:spcBef>
                <a:spcPts val="800"/>
              </a:spcBef>
              <a:buFont typeface="Calibri"/>
              <a:buChar char="•"/>
            </a:pPr>
            <a:r>
              <a:rPr lang="en-US" sz="1600" b="1">
                <a:solidFill>
                  <a:srgbClr val="1E3A5C"/>
                </a:solidFill>
                <a:latin typeface="Calibri"/>
                <a:cs typeface="Calibri"/>
              </a:rPr>
              <a:t>Key Benefits — </a:t>
            </a:r>
            <a:r>
              <a:rPr lang="en-US" sz="1600">
                <a:solidFill>
                  <a:srgbClr val="334155"/>
                </a:solidFill>
                <a:latin typeface="Calibri"/>
                <a:cs typeface="Calibri"/>
              </a:rPr>
              <a:t>Less manual effort, higher locator reliability, faster automation, and production-ready POM code.</a:t>
            </a:r>
          </a:p>
        </p:txBody>
      </p:sp>
      <p:sp>
        <p:nvSpPr>
          <p:cNvPr id="104" name="FlowLabel"/>
          <p:cNvSpPr txBox="1"/>
          <p:nvPr/>
        </p:nvSpPr>
        <p:spPr>
          <a:xfrm>
            <a:off x="700000" y="3180000"/>
            <a:ext cx="10792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 spc="200">
                <a:solidFill>
                  <a:srgbClr val="0E7C7B"/>
                </a:solidFill>
                <a:latin typeface="Calibri"/>
                <a:cs typeface="Calibri"/>
              </a:rPr>
              <a:t>CORE MECHANISM OF AUTOPOM</a:t>
            </a:r>
          </a:p>
        </p:txBody>
      </p:sp>
      <p:sp>
        <p:nvSpPr>
          <p:cNvPr id="105" name="FlowCard1"/>
          <p:cNvSpPr/>
          <p:nvPr/>
        </p:nvSpPr>
        <p:spPr>
          <a:xfrm>
            <a:off x="746000" y="3720000"/>
            <a:ext cx="4900000" cy="26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22225">
            <a:solidFill>
              <a:srgbClr val="1E293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FlowNum1"/>
          <p:cNvSpPr/>
          <p:nvPr/>
        </p:nvSpPr>
        <p:spPr>
          <a:xfrm>
            <a:off x="2886000" y="3315000"/>
            <a:ext cx="620000" cy="62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7" name="FlowTitle1"/>
          <p:cNvSpPr txBox="1"/>
          <p:nvPr/>
        </p:nvSpPr>
        <p:spPr>
          <a:xfrm>
            <a:off x="911000" y="4720000"/>
            <a:ext cx="4600000" cy="5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E293B"/>
                </a:solidFill>
                <a:latin typeface="Calibri"/>
                <a:cs typeface="Calibri"/>
              </a:rPr>
              <a:t>Locator Priority</a:t>
            </a:r>
          </a:p>
        </p:txBody>
      </p:sp>
      <p:sp>
        <p:nvSpPr>
          <p:cNvPr id="108" name="FlowDesc1"/>
          <p:cNvSpPr txBox="1"/>
          <p:nvPr/>
        </p:nvSpPr>
        <p:spPr>
          <a:xfrm>
            <a:off x="1026000" y="5120000"/>
            <a:ext cx="4340000" cy="13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800">
                <a:solidFill>
                  <a:srgbClr val="334155"/>
                </a:solidFill>
                <a:latin typeface="Calibri"/>
                <a:cs typeface="Calibri"/>
              </a:rPr>
              <a:t>Prioritizes ID, Name, Data &amp; Accessibility attributes, CSS selectors, then XPath — resolving the most reliable locator before any AI is invoked.</a:t>
            </a:r>
          </a:p>
        </p:txBody>
      </p:sp>
      <p:sp>
        <p:nvSpPr>
          <p:cNvPr id="109" name="FlowCard2"/>
          <p:cNvSpPr/>
          <p:nvPr/>
        </p:nvSpPr>
        <p:spPr>
          <a:xfrm>
            <a:off x="6546000" y="3720000"/>
            <a:ext cx="4900000" cy="26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22225">
            <a:solidFill>
              <a:srgbClr val="C282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FlowNum2"/>
          <p:cNvSpPr/>
          <p:nvPr/>
        </p:nvSpPr>
        <p:spPr>
          <a:xfrm>
            <a:off x="8709000" y="3355000"/>
            <a:ext cx="620000" cy="620000"/>
          </a:xfrm>
          <a:prstGeom prst="ellipse">
            <a:avLst/>
          </a:prstGeom>
          <a:solidFill>
            <a:srgbClr val="C2820B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1" name="FlowTitle2"/>
          <p:cNvSpPr txBox="1"/>
          <p:nvPr/>
        </p:nvSpPr>
        <p:spPr>
          <a:xfrm>
            <a:off x="6696000" y="4720000"/>
            <a:ext cx="4600000" cy="5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>
                <a:solidFill>
                  <a:srgbClr val="C2820B"/>
                </a:solidFill>
                <a:latin typeface="Calibri"/>
                <a:cs typeface="Calibri"/>
              </a:rPr>
              <a:t>AI Fallback</a:t>
            </a:r>
          </a:p>
        </p:txBody>
      </p:sp>
      <p:sp>
        <p:nvSpPr>
          <p:cNvPr id="112" name="FlowDesc2"/>
          <p:cNvSpPr txBox="1"/>
          <p:nvPr/>
        </p:nvSpPr>
        <p:spPr>
          <a:xfrm>
            <a:off x="6826000" y="5120000"/>
            <a:ext cx="4340000" cy="13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800">
                <a:solidFill>
                  <a:srgbClr val="334155"/>
                </a:solidFill>
                <a:latin typeface="Calibri"/>
                <a:cs typeface="Calibri"/>
              </a:rPr>
              <a:t>When deterministic strategies fail or score low-confidence, AI reads the DOM, element attributes &amp; surrounding context to propose stable, maintainable locators.</a:t>
            </a:r>
          </a:p>
        </p:txBody>
      </p:sp>
      <p:sp>
        <p:nvSpPr>
          <p:cNvPr id="113" name="FlowArrow"/>
          <p:cNvSpPr/>
          <p:nvPr/>
        </p:nvSpPr>
        <p:spPr>
          <a:xfrm>
            <a:off x="5786000" y="4925000"/>
            <a:ext cx="620000" cy="24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00" name="Brain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000" y="4170000"/>
            <a:ext cx="540000" cy="540000"/>
          </a:xfrm>
          <a:prstGeom prst="rect">
            <a:avLst/>
          </a:prstGeom>
        </p:spPr>
      </p:pic>
      <p:pic>
        <p:nvPicPr>
          <p:cNvPr id="3" name="Image 3" descr="preencoded.png">
            <a:extLst>
              <a:ext uri="{FF2B5EF4-FFF2-40B4-BE49-F238E27FC236}">
                <a16:creationId xmlns:a16="http://schemas.microsoft.com/office/drawing/2014/main" id="{51F10AF3-7EFD-0B96-3D86-10E73AC20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072" y="4046536"/>
            <a:ext cx="566928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Diagram Frame"/>
          <p:cNvSpPr/>
          <p:nvPr/>
        </p:nvSpPr>
        <p:spPr>
          <a:xfrm>
            <a:off x="438105" y="1127659"/>
            <a:ext cx="11553895" cy="5670451"/>
          </a:xfrm>
          <a:prstGeom prst="roundRect">
            <a:avLst>
              <a:gd name="adj" fmla="val 3000"/>
            </a:avLst>
          </a:prstGeom>
          <a:solidFill>
            <a:srgbClr val="FBFBFD"/>
          </a:solidFill>
          <a:ln w="9525">
            <a:solidFill>
              <a:srgbClr val="E2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665CF-361A-0552-347F-38E41148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813" y="290000"/>
            <a:ext cx="11172375" cy="468526"/>
          </a:xfrm>
        </p:spPr>
        <p:txBody>
          <a:bodyPr wrap="square" lIns="0" tIns="0" rIns="0" bIns="0" anchor="t">
            <a:spAutoFit/>
          </a:bodyPr>
          <a:lstStyle>
            <a:lvl1pPr marL="0" algn="ctr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AUTO POM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1347B-E45D-8AE6-EDD4-1F6B0BF5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5" y="1327659"/>
            <a:ext cx="11153915" cy="52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6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Self-Healing – Test Automation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367665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>
                <a:solidFill>
                  <a:srgbClr val="EAEFF7"/>
                </a:solidFill>
              </a:rPr>
              <a:t>A self-correcting suite that recovers from UI changes on its own, cutting flakiness and manual upkeep.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Pointers BG"/>
          <p:cNvSpPr/>
          <p:nvPr/>
        </p:nvSpPr>
        <p:spPr>
          <a:xfrm>
            <a:off x="506285" y="1983415"/>
            <a:ext cx="7400572" cy="2192743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03421" y="64598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kern="0" spc="500">
              <a:solidFill>
                <a:srgbClr val="24466E"/>
              </a:solidFill>
              <a:latin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77390" y="-1143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00" b="1">
              <a:solidFill>
                <a:srgbClr val="1E3A5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93976" y="11064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chemeClr val="accent1">
                    <a:lumMod val="76000"/>
                  </a:schemeClr>
                </a:solidFill>
                <a:latin typeface="Calibri"/>
                <a:ea typeface="Calibri" pitchFamily="34" charset="-122"/>
                <a:cs typeface="Calibri"/>
              </a:rPr>
              <a:t>Playwright · TypeScript · Azure OpenAI GPT-4.1 · Chrome Extension</a:t>
            </a:r>
            <a:endParaRPr lang="en-US" sz="1700" b="1">
              <a:solidFill>
                <a:schemeClr val="accent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>
              <a:solidFill>
                <a:srgbClr val="1E3A5C"/>
              </a:solidFill>
              <a:latin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FALLBACK CHAIN</a:t>
            </a:r>
            <a:endParaRPr lang="en-US" sz="160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1B34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ea typeface="Calibri" pitchFamily="34" charset="-122"/>
                <a:cs typeface="Calibri"/>
              </a:rPr>
              <a:t>DB Primary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Stored locator resolved</a:t>
            </a:r>
            <a:endParaRPr lang="en-US" sz="1700" b="1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direct from elements table</a:t>
            </a:r>
            <a:endParaRPr lang="en-US" sz="1700" b="1">
              <a:latin typeface="Calibri"/>
              <a:ea typeface="Calibri"/>
              <a:cs typeface="Calibri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8822" y="5020056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34808" y="4898232"/>
            <a:ext cx="2506026" cy="667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ea typeface="Calibri" pitchFamily="34" charset="-122"/>
                <a:cs typeface="Calibri"/>
              </a:rPr>
              <a:t> Smart Locators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role → </a:t>
            </a:r>
            <a:r>
              <a:rPr lang="en-US" sz="1700" b="1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testId</a:t>
            </a: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 → text → </a:t>
            </a:r>
            <a:r>
              <a:rPr lang="en-US" sz="1700" b="1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css</a:t>
            </a:r>
            <a:endParaRPr lang="en-US" sz="1700" b="1">
              <a:latin typeface="Calibri"/>
              <a:cs typeface="Calibri"/>
            </a:endParaRPr>
          </a:p>
          <a:p>
            <a:pPr>
              <a:lnSpc>
                <a:spcPct val="105000"/>
              </a:lnSpc>
            </a:pP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→ </a:t>
            </a:r>
            <a:r>
              <a:rPr lang="en-US" sz="1700" b="1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xpath</a:t>
            </a: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, placeholder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700" b="1">
              <a:solidFill>
                <a:srgbClr val="334155"/>
              </a:solidFill>
              <a:latin typeface="Calibri"/>
              <a:cs typeface="Calibri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ea typeface="Calibri" pitchFamily="34" charset="-122"/>
                <a:cs typeface="Calibri"/>
              </a:rPr>
              <a:t>  AI Healing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GPT-4.1 vision + DOM context, confidence-gated</a:t>
            </a:r>
            <a:endParaRPr lang="en-US" sz="1700" b="1">
              <a:latin typeface="Calibri"/>
              <a:ea typeface="Calibri"/>
              <a:cs typeface="Calibri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94360" y="180771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160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1B345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suite</a:t>
            </a:r>
            <a:endParaRPr lang="en-US" sz="160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Deterministic tiers absorb most UI changes; AI handles novel breaks.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1B345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E3A5C"/>
                </a:solidFill>
                <a:latin typeface="Calibri"/>
                <a:ea typeface="Calibri"/>
                <a:cs typeface="Calibri"/>
              </a:rPr>
              <a:t>Lower flakiness &amp; upkeep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Cuts manual selector maintenance and false failures substantially.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1B345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end-to-end</a:t>
            </a:r>
            <a:endParaRPr lang="en-US" sz="1600"/>
          </a:p>
        </p:txBody>
      </p:sp>
      <p:sp>
        <p:nvSpPr>
          <p:cNvPr id="36" name="Text 25"/>
          <p:cNvSpPr/>
          <p:nvPr/>
        </p:nvSpPr>
        <p:spPr>
          <a:xfrm>
            <a:off x="1143000" y="381009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Proven against the live Ann Taylor staging funnel.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DF202ED5-DE62-30D2-B684-02AFBE2C4DD2}"/>
              </a:ext>
            </a:extLst>
          </p:cNvPr>
          <p:cNvSpPr/>
          <p:nvPr/>
        </p:nvSpPr>
        <p:spPr>
          <a:xfrm>
            <a:off x="893921" y="570355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>
                <a:solidFill>
                  <a:srgbClr val="24466E"/>
                </a:solidFill>
                <a:latin typeface="Calibri"/>
                <a:ea typeface="Calibri"/>
              </a:rPr>
              <a:t>Business value – Fixing flaky tests on its own – Less maintenance - Faster releases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605CC-F4A4-E939-07E1-47E66D26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Diagram Frame"/>
          <p:cNvSpPr/>
          <p:nvPr/>
        </p:nvSpPr>
        <p:spPr>
          <a:xfrm>
            <a:off x="2477012" y="950000"/>
            <a:ext cx="6808191" cy="5850000"/>
          </a:xfrm>
          <a:prstGeom prst="roundRect">
            <a:avLst>
              <a:gd name="adj" fmla="val 3000"/>
            </a:avLst>
          </a:prstGeom>
          <a:solidFill>
            <a:srgbClr val="FBFBFD"/>
          </a:solidFill>
          <a:ln w="9525">
            <a:solidFill>
              <a:srgbClr val="E2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F4787C-988B-CD63-DBCB-8B8790E657FB}"/>
              </a:ext>
            </a:extLst>
          </p:cNvPr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>
              <a:solidFill>
                <a:srgbClr val="0D9488"/>
              </a:solidFill>
              <a:latin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875EE4-3CEC-97B7-7874-578D063429B7}"/>
              </a:ext>
            </a:extLst>
          </p:cNvPr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b="1">
              <a:solidFill>
                <a:srgbClr val="1E3A5C"/>
              </a:solidFill>
              <a:latin typeface="Calibri"/>
              <a:ea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6D273D0-04A2-65DE-AEFF-E8EAFAA2FDE2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>
              <a:solidFill>
                <a:srgbClr val="1E3A5C"/>
              </a:solidFill>
              <a:latin typeface="Calibri"/>
              <a:cs typeface="Calibri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14A0F82C-4E09-45E4-0402-81B6861D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pic>
        <p:nvPicPr>
          <p:cNvPr id="6" name="Picture 5" descr="Architecture diagram of self Healing ">
            <a:extLst>
              <a:ext uri="{FF2B5EF4-FFF2-40B4-BE49-F238E27FC236}">
                <a16:creationId xmlns:a16="http://schemas.microsoft.com/office/drawing/2014/main" id="{A4A00CEC-06C1-F04F-4925-C8042D1A4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9"/>
          <a:stretch>
            <a:fillRect/>
          </a:stretch>
        </p:blipFill>
        <p:spPr>
          <a:xfrm>
            <a:off x="2637012" y="916923"/>
            <a:ext cx="6488191" cy="5783077"/>
          </a:xfrm>
          <a:prstGeom prst="rect">
            <a:avLst/>
          </a:prstGeom>
        </p:spPr>
      </p:pic>
      <p:sp>
        <p:nvSpPr>
          <p:cNvPr id="5" name="Snip Diagonal Corner Rectangle 15">
            <a:extLst>
              <a:ext uri="{FF2B5EF4-FFF2-40B4-BE49-F238E27FC236}">
                <a16:creationId xmlns:a16="http://schemas.microsoft.com/office/drawing/2014/main" id="{2B4494C9-1FC5-409B-820E-DCE03D2FA86D}"/>
              </a:ext>
            </a:extLst>
          </p:cNvPr>
          <p:cNvSpPr/>
          <p:nvPr/>
        </p:nvSpPr>
        <p:spPr>
          <a:xfrm>
            <a:off x="509813" y="290000"/>
            <a:ext cx="11172375" cy="900000"/>
          </a:xfrm>
          <a:prstGeom prst="rect">
            <a:avLst/>
          </a:prstGeom>
          <a:noFill/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algn="ctr" defTabSz="355591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SELF HEALING ARCHITECTURE</a:t>
            </a:r>
            <a:b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</a:br>
            <a:endParaRPr lang="en-US" sz="3200" b="1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7978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Image Based Automation Tool – Visor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3807619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>
                <a:solidFill>
                  <a:srgbClr val="EAEFF7"/>
                </a:solidFill>
              </a:rPr>
              <a:t>Visual automation framework that combines OpenCV image matching, OCR, and input control into one Node.js package — enabling automation of Windows applications without DOM or browser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d Title"/>
          <p:cNvSpPr txBox="1"/>
          <p:nvPr/>
        </p:nvSpPr>
        <p:spPr>
          <a:xfrm>
            <a:off x="509813" y="200000"/>
            <a:ext cx="11172375" cy="64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IMAGE BASED AUTOMATION TOOL – VISOR</a:t>
            </a:r>
          </a:p>
        </p:txBody>
      </p:sp>
      <p:sp>
        <p:nvSpPr>
          <p:cNvPr id="203" name="KeyFeaturesLabel"/>
          <p:cNvSpPr txBox="1"/>
          <p:nvPr/>
        </p:nvSpPr>
        <p:spPr>
          <a:xfrm>
            <a:off x="900000" y="1550000"/>
            <a:ext cx="10392000" cy="38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600" b="1" spc="200">
                <a:solidFill>
                  <a:srgbClr val="24466E"/>
                </a:solidFill>
                <a:latin typeface="Calibri"/>
                <a:cs typeface="Calibri"/>
              </a:rPr>
              <a:t>KEY FEATURES</a:t>
            </a:r>
          </a:p>
        </p:txBody>
      </p:sp>
      <p:sp>
        <p:nvSpPr>
          <p:cNvPr id="204" name="PNum1"/>
          <p:cNvSpPr/>
          <p:nvPr/>
        </p:nvSpPr>
        <p:spPr>
          <a:xfrm>
            <a:off x="1050000" y="215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05" name="PText1"/>
          <p:cNvSpPr txBox="1"/>
          <p:nvPr/>
        </p:nvSpPr>
        <p:spPr>
          <a:xfrm>
            <a:off x="1750000" y="215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Multi-scale image matching</a:t>
            </a:r>
          </a:p>
        </p:txBody>
      </p:sp>
      <p:sp>
        <p:nvSpPr>
          <p:cNvPr id="206" name="PNum2"/>
          <p:cNvSpPr/>
          <p:nvPr/>
        </p:nvSpPr>
        <p:spPr>
          <a:xfrm>
            <a:off x="1050000" y="287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07" name="PText2"/>
          <p:cNvSpPr txBox="1"/>
          <p:nvPr/>
        </p:nvSpPr>
        <p:spPr>
          <a:xfrm>
            <a:off x="1750000" y="287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Full-screen and region-based OCR</a:t>
            </a:r>
          </a:p>
        </p:txBody>
      </p:sp>
      <p:sp>
        <p:nvSpPr>
          <p:cNvPr id="208" name="PNum3"/>
          <p:cNvSpPr/>
          <p:nvPr/>
        </p:nvSpPr>
        <p:spPr>
          <a:xfrm>
            <a:off x="1050000" y="359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09" name="PText3"/>
          <p:cNvSpPr txBox="1"/>
          <p:nvPr/>
        </p:nvSpPr>
        <p:spPr>
          <a:xfrm>
            <a:off x="1750000" y="359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Automated mouse and keyboard input</a:t>
            </a:r>
          </a:p>
        </p:txBody>
      </p:sp>
      <p:sp>
        <p:nvSpPr>
          <p:cNvPr id="210" name="PNum4"/>
          <p:cNvSpPr/>
          <p:nvPr/>
        </p:nvSpPr>
        <p:spPr>
          <a:xfrm>
            <a:off x="1050000" y="431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11" name="PText4"/>
          <p:cNvSpPr txBox="1"/>
          <p:nvPr/>
        </p:nvSpPr>
        <p:spPr>
          <a:xfrm>
            <a:off x="1750000" y="431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Barcode scanning</a:t>
            </a:r>
          </a:p>
        </p:txBody>
      </p:sp>
      <p:sp>
        <p:nvSpPr>
          <p:cNvPr id="212" name="PNum5"/>
          <p:cNvSpPr/>
          <p:nvPr/>
        </p:nvSpPr>
        <p:spPr>
          <a:xfrm>
            <a:off x="1050000" y="503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13" name="PText5"/>
          <p:cNvSpPr txBox="1"/>
          <p:nvPr/>
        </p:nvSpPr>
        <p:spPr>
          <a:xfrm>
            <a:off x="1750000" y="503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Built-in display scaling detection</a:t>
            </a: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960" name="Page Number"/>
          <p:cNvSpPr txBox="1"/>
          <p:nvPr/>
        </p:nvSpPr>
        <p:spPr>
          <a:xfrm>
            <a:off x="11500000" y="6420000"/>
            <a:ext cx="500000" cy="3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endParaRPr lang="en-US" sz="1000">
              <a:solidFill>
                <a:srgbClr val="94A3B8"/>
              </a:solidFill>
              <a:latin typeface="Calibri"/>
              <a:cs typeface="Calibri"/>
            </a:endParaRPr>
          </a:p>
        </p:txBody>
      </p:sp>
      <p:sp>
        <p:nvSpPr>
          <p:cNvPr id="4" name="Shape 26">
            <a:extLst>
              <a:ext uri="{FF2B5EF4-FFF2-40B4-BE49-F238E27FC236}">
                <a16:creationId xmlns:a16="http://schemas.microsoft.com/office/drawing/2014/main" id="{FAAE73F4-B00F-F35E-6B47-5E4DD203674C}"/>
              </a:ext>
            </a:extLst>
          </p:cNvPr>
          <p:cNvSpPr/>
          <p:nvPr/>
        </p:nvSpPr>
        <p:spPr>
          <a:xfrm>
            <a:off x="6101600" y="1932619"/>
            <a:ext cx="5748564" cy="178142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1B3450"/>
            </a:solidFill>
            <a:prstDash val="solid"/>
          </a:ln>
        </p:spPr>
        <p:txBody>
          <a:bodyPr lIns="91440" tIns="45720" rIns="91440" bIns="45720" anchor="t"/>
          <a:lstStyle/>
          <a:p>
            <a:pPr algn="l" rtl="0"/>
            <a:r>
              <a:rPr lang="en-US" sz="1600" b="1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Install via </a:t>
            </a:r>
            <a:r>
              <a:rPr lang="en-US" sz="1600" b="1" i="0" u="none" strike="noStrike" baseline="0" dirty="0" err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npm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r>
              <a:rPr lang="en-US" sz="1600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endParaRPr lang="en-US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Run `</a:t>
            </a:r>
            <a:r>
              <a:rPr lang="en-US" sz="1600" b="1" i="0" u="none" strike="noStrike" baseline="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npm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1600" b="1" i="0" u="none" strike="noStrike" baseline="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install@aspiresys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/visor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`</a:t>
            </a:r>
            <a:r>
              <a:rPr lang="en-US" sz="16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Launch it with `</a:t>
            </a:r>
            <a:r>
              <a:rPr lang="en-US" sz="1600" b="1" i="0" u="none" strike="noStrike" baseline="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npx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visor-inspector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`.</a:t>
            </a:r>
            <a:r>
              <a:rPr lang="en-US" sz="16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l">
              <a:buFont typeface="Arial,Sans-Serif"/>
              <a:buChar char="•"/>
            </a:pPr>
            <a:endParaRPr lang="en-US" sz="1600" b="0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https://www.npmjs.com/package/@aspiresys/visor</a:t>
            </a:r>
            <a:endParaRPr lang="en-US" sz="1600" dirty="0">
              <a:solidFill>
                <a:srgbClr val="000000"/>
              </a:solidFill>
              <a:latin typeface="Aptos"/>
              <a:ea typeface="Segoe UI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>
              <a:solidFill>
                <a:srgbClr val="000000"/>
              </a:solidFill>
              <a:latin typeface="Arial"/>
              <a:ea typeface="Segoe UI"/>
              <a:cs typeface="Arial"/>
            </a:endParaRP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47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Diagram Frame"/>
          <p:cNvSpPr/>
          <p:nvPr/>
        </p:nvSpPr>
        <p:spPr>
          <a:xfrm>
            <a:off x="200000" y="950000"/>
            <a:ext cx="10731505" cy="5850000"/>
          </a:xfrm>
          <a:prstGeom prst="roundRect">
            <a:avLst>
              <a:gd name="adj" fmla="val 3000"/>
            </a:avLst>
          </a:prstGeom>
          <a:solidFill>
            <a:srgbClr val="FBFBFD"/>
          </a:solidFill>
          <a:ln w="9525">
            <a:solidFill>
              <a:srgbClr val="E2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568A22-5685-43B6-95D6-4DED64041462}"/>
              </a:ext>
            </a:extLst>
          </p:cNvPr>
          <p:cNvSpPr txBox="1"/>
          <p:nvPr/>
        </p:nvSpPr>
        <p:spPr>
          <a:xfrm>
            <a:off x="9123994" y="1132919"/>
            <a:ext cx="231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en-US" sz="1600" b="1">
                <a:solidFill>
                  <a:srgbClr val="F2F2F5">
                    <a:lumMod val="25000"/>
                  </a:srgbClr>
                </a:solidFill>
                <a:latin typeface="Calibri"/>
                <a:cs typeface="Calibri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9AEBC-73CA-7AC5-6EF6-6AF8F86F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7" y="1030331"/>
            <a:ext cx="11042248" cy="5689337"/>
          </a:xfrm>
          <a:prstGeom prst="rect">
            <a:avLst/>
          </a:prstGeom>
        </p:spPr>
      </p:pic>
      <p:sp>
        <p:nvSpPr>
          <p:cNvPr id="8" name="Snip Diagonal Corner Rectangle 15">
            <a:extLst>
              <a:ext uri="{FF2B5EF4-FFF2-40B4-BE49-F238E27FC236}">
                <a16:creationId xmlns:a16="http://schemas.microsoft.com/office/drawing/2014/main" id="{B32E4883-13E1-C80E-8C50-35087D7D3CC5}"/>
              </a:ext>
            </a:extLst>
          </p:cNvPr>
          <p:cNvSpPr/>
          <p:nvPr/>
        </p:nvSpPr>
        <p:spPr>
          <a:xfrm>
            <a:off x="509813" y="290000"/>
            <a:ext cx="11172375" cy="900000"/>
          </a:xfrm>
          <a:prstGeom prst="rect">
            <a:avLst/>
          </a:prstGeom>
          <a:noFill/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algn="ctr" defTabSz="355591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VISOR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43604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61139-2DF3-5811-5EAB-538996CC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92399E-B3E9-BBA7-7AF0-B3327EA5F28E}"/>
              </a:ext>
            </a:extLst>
          </p:cNvPr>
          <p:cNvSpPr/>
          <p:nvPr/>
        </p:nvSpPr>
        <p:spPr>
          <a:xfrm>
            <a:off x="0" y="5028353"/>
            <a:ext cx="12196156" cy="223181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3EBDFA-C7C7-F40A-D879-AAC5DADB807A}"/>
              </a:ext>
            </a:extLst>
          </p:cNvPr>
          <p:cNvSpPr/>
          <p:nvPr/>
        </p:nvSpPr>
        <p:spPr>
          <a:xfrm>
            <a:off x="548640" y="66113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kern="0" spc="500">
              <a:solidFill>
                <a:srgbClr val="24466E"/>
              </a:solidFill>
              <a:latin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721923-09F3-02D8-1245-89AB1A580F45}"/>
              </a:ext>
            </a:extLst>
          </p:cNvPr>
          <p:cNvSpPr/>
          <p:nvPr/>
        </p:nvSpPr>
        <p:spPr>
          <a:xfrm>
            <a:off x="509813" y="290000"/>
            <a:ext cx="11172375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AFTA DASHBOARD</a:t>
            </a:r>
            <a:r>
              <a:rPr lang="en-US" sz="28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 </a:t>
            </a:r>
            <a:endParaRPr lang="en-US" sz="2800">
              <a:solidFill>
                <a:schemeClr val="accent5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3400" b="1">
              <a:solidFill>
                <a:srgbClr val="1E3A5C"/>
              </a:solidFill>
              <a:latin typeface="Calibri"/>
              <a:ea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C708ED-431B-572B-510F-F2E4280C8915}"/>
              </a:ext>
            </a:extLst>
          </p:cNvPr>
          <p:cNvSpPr/>
          <p:nvPr/>
        </p:nvSpPr>
        <p:spPr>
          <a:xfrm>
            <a:off x="601556" y="88839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24466E"/>
                </a:solidFill>
                <a:latin typeface="Calibri"/>
                <a:ea typeface="Calibri"/>
              </a:rPr>
              <a:t>Unified Test Automation Platform for Execution, Reporting and Analytics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F04CA27-054F-2DC5-675B-73B6B8A434DC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>
              <a:solidFill>
                <a:srgbClr val="1E3A5C"/>
              </a:solidFill>
              <a:latin typeface="Calibri"/>
              <a:cs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720DE9D-76D8-D7AD-3E9B-3B53BF4D8E91}"/>
              </a:ext>
            </a:extLst>
          </p:cNvPr>
          <p:cNvSpPr/>
          <p:nvPr/>
        </p:nvSpPr>
        <p:spPr>
          <a:xfrm>
            <a:off x="485140" y="513665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300">
                <a:solidFill>
                  <a:srgbClr val="24466E"/>
                </a:solidFill>
                <a:latin typeface="Calibri"/>
                <a:cs typeface="Calibri"/>
              </a:rPr>
              <a:t>TECH STACK</a:t>
            </a:r>
            <a:endParaRPr lang="en-US" sz="13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E0FD926-50E5-6AA1-BCF6-4A8331671995}"/>
              </a:ext>
            </a:extLst>
          </p:cNvPr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>
              <a:solidFill>
                <a:srgbClr val="1E3A5C"/>
              </a:solidFill>
              <a:latin typeface="Calibri"/>
              <a:cs typeface="Calibri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B9D6C9C-99CC-A1BA-F9B7-708B7E87C675}"/>
              </a:ext>
            </a:extLst>
          </p:cNvPr>
          <p:cNvSpPr/>
          <p:nvPr/>
        </p:nvSpPr>
        <p:spPr>
          <a:xfrm>
            <a:off x="4707867" y="5294745"/>
            <a:ext cx="509386" cy="340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>
              <a:solidFill>
                <a:srgbClr val="1E3A5C"/>
              </a:solidFill>
              <a:latin typeface="Calibri"/>
              <a:cs typeface="Calibri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790A8B79-4B7B-0668-B7A1-D8C466C4A41D}"/>
              </a:ext>
            </a:extLst>
          </p:cNvPr>
          <p:cNvSpPr/>
          <p:nvPr/>
        </p:nvSpPr>
        <p:spPr>
          <a:xfrm>
            <a:off x="1217083" y="155749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24466E"/>
                </a:solidFill>
                <a:latin typeface="Calibri"/>
                <a:ea typeface="Calibri"/>
              </a:rPr>
              <a:t>Features in AFTA</a:t>
            </a:r>
            <a:endParaRPr lang="en-US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D9712328-0FF8-D35C-83DB-521B576FF969}"/>
              </a:ext>
            </a:extLst>
          </p:cNvPr>
          <p:cNvSpPr/>
          <p:nvPr/>
        </p:nvSpPr>
        <p:spPr>
          <a:xfrm>
            <a:off x="590974" y="1869355"/>
            <a:ext cx="457200" cy="457200"/>
          </a:xfrm>
          <a:prstGeom prst="ellipse">
            <a:avLst/>
          </a:prstGeom>
          <a:solidFill>
            <a:srgbClr val="1B345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EE84D1DB-6D33-6FB9-4142-CE43B7F7D326}"/>
              </a:ext>
            </a:extLst>
          </p:cNvPr>
          <p:cNvSpPr/>
          <p:nvPr/>
        </p:nvSpPr>
        <p:spPr>
          <a:xfrm>
            <a:off x="1217083" y="1951651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 Runner</a:t>
            </a:r>
            <a:endParaRPr lang="en-US">
              <a:latin typeface="Calibri" panose="020B0004020202020204"/>
              <a:cs typeface="Calibri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6F055932-9141-8068-E36E-78FB40DD3092}"/>
              </a:ext>
            </a:extLst>
          </p:cNvPr>
          <p:cNvSpPr/>
          <p:nvPr/>
        </p:nvSpPr>
        <p:spPr>
          <a:xfrm>
            <a:off x="1217083" y="2276009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64748B"/>
                </a:solidFill>
                <a:latin typeface="Calibri"/>
                <a:cs typeface="Calibri"/>
              </a:rPr>
              <a:t>Execute and monitor test suites with build history and report access</a:t>
            </a:r>
            <a:endParaRPr lang="en-US"/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50344F6F-FBBF-41F0-D249-0A1FDE102CB9}"/>
              </a:ext>
            </a:extLst>
          </p:cNvPr>
          <p:cNvSpPr/>
          <p:nvPr/>
        </p:nvSpPr>
        <p:spPr>
          <a:xfrm>
            <a:off x="590974" y="2680715"/>
            <a:ext cx="457200" cy="457200"/>
          </a:xfrm>
          <a:prstGeom prst="ellipse">
            <a:avLst/>
          </a:prstGeom>
          <a:solidFill>
            <a:srgbClr val="1B345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9BC1B32A-1724-9C4E-64AC-4000B4BA779A}"/>
              </a:ext>
            </a:extLst>
          </p:cNvPr>
          <p:cNvSpPr/>
          <p:nvPr/>
        </p:nvSpPr>
        <p:spPr>
          <a:xfrm>
            <a:off x="1217083" y="2763011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 Data Generator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07A664B4-5C26-F399-63F6-162C7EDF5B80}"/>
              </a:ext>
            </a:extLst>
          </p:cNvPr>
          <p:cNvSpPr/>
          <p:nvPr/>
        </p:nvSpPr>
        <p:spPr>
          <a:xfrm>
            <a:off x="1217083" y="294978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Generate reusable test data for faster execution.</a:t>
            </a:r>
            <a:r>
              <a:rPr lang="en-US" sz="16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5A606240-7C8F-4C2F-6999-2192624A0B82}"/>
              </a:ext>
            </a:extLst>
          </p:cNvPr>
          <p:cNvSpPr/>
          <p:nvPr/>
        </p:nvSpPr>
        <p:spPr>
          <a:xfrm>
            <a:off x="590974" y="3248659"/>
            <a:ext cx="457200" cy="457200"/>
          </a:xfrm>
          <a:prstGeom prst="ellipse">
            <a:avLst/>
          </a:prstGeom>
          <a:solidFill>
            <a:srgbClr val="1B345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5A29979B-DAAF-77AA-DA08-BEFC195C51E0}"/>
              </a:ext>
            </a:extLst>
          </p:cNvPr>
          <p:cNvSpPr/>
          <p:nvPr/>
        </p:nvSpPr>
        <p:spPr>
          <a:xfrm>
            <a:off x="1217083" y="3330955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3A5C"/>
                </a:solidFill>
                <a:latin typeface="Calibri"/>
                <a:cs typeface="Calibri"/>
              </a:rPr>
              <a:t>Reports</a:t>
            </a:r>
            <a:endParaRPr lang="en-US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A41189EB-3191-151C-B349-5C1B8ADEE126}"/>
              </a:ext>
            </a:extLst>
          </p:cNvPr>
          <p:cNvSpPr/>
          <p:nvPr/>
        </p:nvSpPr>
        <p:spPr>
          <a:xfrm>
            <a:off x="1217083" y="347539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Centralized insights into execution results and trends</a:t>
            </a:r>
            <a:r>
              <a:rPr lang="en-US" sz="1600" b="1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83DBE46C-B019-76A7-A02F-BA868E4FF9B3}"/>
              </a:ext>
            </a:extLst>
          </p:cNvPr>
          <p:cNvSpPr/>
          <p:nvPr/>
        </p:nvSpPr>
        <p:spPr>
          <a:xfrm>
            <a:off x="6452362" y="1806828"/>
            <a:ext cx="5480050" cy="1089575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1B34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CEF4D328-341C-DD15-428C-56B247CEC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369" y="1915064"/>
            <a:ext cx="384048" cy="384048"/>
          </a:xfrm>
          <a:prstGeom prst="rect">
            <a:avLst/>
          </a:prstGeom>
        </p:spPr>
      </p:pic>
      <p:sp>
        <p:nvSpPr>
          <p:cNvPr id="39" name="Text 27">
            <a:extLst>
              <a:ext uri="{FF2B5EF4-FFF2-40B4-BE49-F238E27FC236}">
                <a16:creationId xmlns:a16="http://schemas.microsoft.com/office/drawing/2014/main" id="{964FF14B-65C6-1E60-6EEB-8EC21B86F474}"/>
              </a:ext>
            </a:extLst>
          </p:cNvPr>
          <p:cNvSpPr/>
          <p:nvPr/>
        </p:nvSpPr>
        <p:spPr>
          <a:xfrm>
            <a:off x="7083251" y="196008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/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0D57A0E7-D665-6D4F-26BC-F69353495F89}"/>
              </a:ext>
            </a:extLst>
          </p:cNvPr>
          <p:cNvSpPr/>
          <p:nvPr/>
        </p:nvSpPr>
        <p:spPr>
          <a:xfrm>
            <a:off x="7066407" y="217770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600" b="1">
                <a:solidFill>
                  <a:srgbClr val="334155"/>
                </a:solidFill>
                <a:latin typeface="Calibri"/>
                <a:cs typeface="Calibri"/>
              </a:rPr>
              <a:t>Implementation of multiple user login and User scheduling history with timestamp</a:t>
            </a:r>
          </a:p>
        </p:txBody>
      </p:sp>
      <p:sp>
        <p:nvSpPr>
          <p:cNvPr id="41" name="Shape 29">
            <a:extLst>
              <a:ext uri="{FF2B5EF4-FFF2-40B4-BE49-F238E27FC236}">
                <a16:creationId xmlns:a16="http://schemas.microsoft.com/office/drawing/2014/main" id="{49B89240-3AE8-1714-2950-2C2787D1127C}"/>
              </a:ext>
            </a:extLst>
          </p:cNvPr>
          <p:cNvSpPr/>
          <p:nvPr/>
        </p:nvSpPr>
        <p:spPr>
          <a:xfrm>
            <a:off x="6452362" y="3549974"/>
            <a:ext cx="5480049" cy="1184826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9651B394-3069-F8F0-603C-9D77F71C4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428" y="3577921"/>
            <a:ext cx="384048" cy="384048"/>
          </a:xfrm>
          <a:prstGeom prst="rect">
            <a:avLst/>
          </a:prstGeom>
        </p:spPr>
      </p:pic>
      <p:sp>
        <p:nvSpPr>
          <p:cNvPr id="43" name="Text 30">
            <a:extLst>
              <a:ext uri="{FF2B5EF4-FFF2-40B4-BE49-F238E27FC236}">
                <a16:creationId xmlns:a16="http://schemas.microsoft.com/office/drawing/2014/main" id="{B8DEA60E-10CF-66FA-FE0E-89E61D42233E}"/>
              </a:ext>
            </a:extLst>
          </p:cNvPr>
          <p:cNvSpPr/>
          <p:nvPr/>
        </p:nvSpPr>
        <p:spPr>
          <a:xfrm>
            <a:off x="7082289" y="362137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F7B20EB5-4E9B-AC9B-2303-B128B09312BC}"/>
              </a:ext>
            </a:extLst>
          </p:cNvPr>
          <p:cNvSpPr/>
          <p:nvPr/>
        </p:nvSpPr>
        <p:spPr>
          <a:xfrm>
            <a:off x="6958541" y="3961969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>
                <a:solidFill>
                  <a:srgbClr val="334155"/>
                </a:solidFill>
                <a:latin typeface="Calibri"/>
                <a:cs typeface="Calibri"/>
              </a:rPr>
              <a:t>AI-Powered Test Summaries 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>
                <a:solidFill>
                  <a:srgbClr val="334155"/>
                </a:solidFill>
                <a:latin typeface="Calibri"/>
                <a:cs typeface="Calibri"/>
              </a:rPr>
              <a:t>AI-Based Failure Analysis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>
                <a:solidFill>
                  <a:srgbClr val="334155"/>
                </a:solidFill>
                <a:latin typeface="Calibri"/>
                <a:cs typeface="Calibri"/>
              </a:rPr>
              <a:t>Root Cause Suggestions </a:t>
            </a:r>
          </a:p>
          <a:p>
            <a:pPr marL="171450" indent="-171450">
              <a:lnSpc>
                <a:spcPct val="105000"/>
              </a:lnSpc>
              <a:buFont typeface="Calibri" panose="020B0604020202020204" pitchFamily="34" charset="0"/>
              <a:buChar char="•"/>
            </a:pPr>
            <a:endParaRPr lang="en-US" sz="1500" b="1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7745F82A-3CE8-06BA-57B8-898AC1440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6" name="Shape 23">
            <a:extLst>
              <a:ext uri="{FF2B5EF4-FFF2-40B4-BE49-F238E27FC236}">
                <a16:creationId xmlns:a16="http://schemas.microsoft.com/office/drawing/2014/main" id="{43DBA775-111E-B9DD-D506-FFA237E8D645}"/>
              </a:ext>
            </a:extLst>
          </p:cNvPr>
          <p:cNvSpPr/>
          <p:nvPr/>
        </p:nvSpPr>
        <p:spPr>
          <a:xfrm>
            <a:off x="590974" y="3854704"/>
            <a:ext cx="457200" cy="457200"/>
          </a:xfrm>
          <a:prstGeom prst="ellipse">
            <a:avLst/>
          </a:prstGeom>
          <a:solidFill>
            <a:srgbClr val="1B345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3DE75C-B7D3-B5D6-78FB-DD9F6119AFB2}"/>
              </a:ext>
            </a:extLst>
          </p:cNvPr>
          <p:cNvSpPr txBox="1"/>
          <p:nvPr/>
        </p:nvSpPr>
        <p:spPr>
          <a:xfrm>
            <a:off x="1090083" y="3937000"/>
            <a:ext cx="60960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Scheduler </a:t>
            </a:r>
            <a:endParaRPr lang="en-US" sz="1600" b="1">
              <a:latin typeface="Calibri"/>
              <a:cs typeface="Calibri"/>
            </a:endParaRPr>
          </a:p>
          <a:p>
            <a:r>
              <a:rPr lang="en-US" sz="1600" b="1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Automate recurring and parameterized test executions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77C648-F961-D0DF-5D9D-956E2044DF79}"/>
              </a:ext>
            </a:extLst>
          </p:cNvPr>
          <p:cNvSpPr txBox="1"/>
          <p:nvPr/>
        </p:nvSpPr>
        <p:spPr>
          <a:xfrm>
            <a:off x="9318322" y="3857060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 panose="020B0604020202020204" pitchFamily="34" charset="0"/>
              <a:buChar char="•"/>
            </a:pPr>
            <a:r>
              <a:rPr lang="en-US" sz="1500" b="1">
                <a:solidFill>
                  <a:srgbClr val="334155"/>
                </a:solidFill>
                <a:latin typeface="Calibri"/>
                <a:cs typeface="Calibri"/>
              </a:rPr>
              <a:t>Test Data Management Tool​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>
                <a:solidFill>
                  <a:srgbClr val="334155"/>
                </a:solidFill>
                <a:latin typeface="Calibri"/>
                <a:cs typeface="Calibri"/>
              </a:rPr>
              <a:t>   Email &amp;Teams Notifications​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>
                <a:solidFill>
                  <a:srgbClr val="334155"/>
                </a:solidFill>
                <a:latin typeface="Calibri"/>
                <a:cs typeface="Calibri"/>
              </a:rPr>
              <a:t>   Flaky Test Detection ​</a:t>
            </a:r>
          </a:p>
          <a:p>
            <a:pPr algn="ctr"/>
            <a:endParaRPr lang="en-US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0160280E-DB53-16A6-5204-13A139E46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574716"/>
              </p:ext>
            </p:extLst>
          </p:nvPr>
        </p:nvGraphicFramePr>
        <p:xfrm>
          <a:off x="789785" y="5697505"/>
          <a:ext cx="10604378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962">
                  <a:extLst>
                    <a:ext uri="{9D8B030D-6E8A-4147-A177-3AD203B41FA5}">
                      <a16:colId xmlns:a16="http://schemas.microsoft.com/office/drawing/2014/main" val="257991179"/>
                    </a:ext>
                  </a:extLst>
                </a:gridCol>
                <a:gridCol w="1468861">
                  <a:extLst>
                    <a:ext uri="{9D8B030D-6E8A-4147-A177-3AD203B41FA5}">
                      <a16:colId xmlns:a16="http://schemas.microsoft.com/office/drawing/2014/main" val="3737988962"/>
                    </a:ext>
                  </a:extLst>
                </a:gridCol>
                <a:gridCol w="1514912">
                  <a:extLst>
                    <a:ext uri="{9D8B030D-6E8A-4147-A177-3AD203B41FA5}">
                      <a16:colId xmlns:a16="http://schemas.microsoft.com/office/drawing/2014/main" val="3234516299"/>
                    </a:ext>
                  </a:extLst>
                </a:gridCol>
                <a:gridCol w="1305066">
                  <a:extLst>
                    <a:ext uri="{9D8B030D-6E8A-4147-A177-3AD203B41FA5}">
                      <a16:colId xmlns:a16="http://schemas.microsoft.com/office/drawing/2014/main" val="64408704"/>
                    </a:ext>
                  </a:extLst>
                </a:gridCol>
                <a:gridCol w="1317858">
                  <a:extLst>
                    <a:ext uri="{9D8B030D-6E8A-4147-A177-3AD203B41FA5}">
                      <a16:colId xmlns:a16="http://schemas.microsoft.com/office/drawing/2014/main" val="2113656067"/>
                    </a:ext>
                  </a:extLst>
                </a:gridCol>
                <a:gridCol w="2123932">
                  <a:extLst>
                    <a:ext uri="{9D8B030D-6E8A-4147-A177-3AD203B41FA5}">
                      <a16:colId xmlns:a16="http://schemas.microsoft.com/office/drawing/2014/main" val="3742892743"/>
                    </a:ext>
                  </a:extLst>
                </a:gridCol>
                <a:gridCol w="1312787">
                  <a:extLst>
                    <a:ext uri="{9D8B030D-6E8A-4147-A177-3AD203B41FA5}">
                      <a16:colId xmlns:a16="http://schemas.microsoft.com/office/drawing/2014/main" val="4235273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Layer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UI</a:t>
                      </a: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Backend</a:t>
                      </a:r>
                      <a:endParaRPr lang="en-US" sz="1600" err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CI/CD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Reports    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Integrations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Storage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58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Angular, TypeScript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Node.js, Express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Jenkins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JUnit XML, Allure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Report Portal, SVN, Lambda Test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SQLite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2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8F04572-779B-6134-91B7-E6C774B41335}"/>
              </a:ext>
            </a:extLst>
          </p:cNvPr>
          <p:cNvSpPr txBox="1"/>
          <p:nvPr/>
        </p:nvSpPr>
        <p:spPr>
          <a:xfrm>
            <a:off x="502073" y="1839017"/>
            <a:ext cx="635001" cy="657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▶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7244D0-EA26-9882-3737-76F744AF8487}"/>
              </a:ext>
            </a:extLst>
          </p:cNvPr>
          <p:cNvSpPr txBox="1"/>
          <p:nvPr/>
        </p:nvSpPr>
        <p:spPr>
          <a:xfrm>
            <a:off x="571346" y="2656150"/>
            <a:ext cx="49645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▤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AD1A0-9BAF-37D9-15FF-3E9107BDC6B1}"/>
              </a:ext>
            </a:extLst>
          </p:cNvPr>
          <p:cNvSpPr txBox="1"/>
          <p:nvPr/>
        </p:nvSpPr>
        <p:spPr>
          <a:xfrm>
            <a:off x="513619" y="3830139"/>
            <a:ext cx="6119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◷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AFA1F-29FA-749F-A4D1-EEA68393879D}"/>
              </a:ext>
            </a:extLst>
          </p:cNvPr>
          <p:cNvSpPr txBox="1"/>
          <p:nvPr/>
        </p:nvSpPr>
        <p:spPr>
          <a:xfrm>
            <a:off x="542482" y="3224094"/>
            <a:ext cx="5541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▦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09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D507A-2D77-3ADB-F0F5-99859CE4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9A797ED6-A9FD-37C4-420C-74DAB6DA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>
            <a:extLst>
              <a:ext uri="{FF2B5EF4-FFF2-40B4-BE49-F238E27FC236}">
                <a16:creationId xmlns:a16="http://schemas.microsoft.com/office/drawing/2014/main" id="{FE676726-77A2-381B-F0C3-FE529C544A07}"/>
              </a:ext>
            </a:extLst>
          </p:cNvPr>
          <p:cNvSpPr/>
          <p:nvPr/>
        </p:nvSpPr>
        <p:spPr>
          <a:xfrm>
            <a:off x="452225" y="978500"/>
            <a:ext cx="5241345" cy="3084063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24466E"/>
            </a:solidFill>
          </a:ln>
        </p:spPr>
        <p:txBody>
          <a:bodyPr lIns="91440" tIns="45720" rIns="91440" bIns="45720" anchor="t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21" name="Left Header">
            <a:extLst>
              <a:ext uri="{FF2B5EF4-FFF2-40B4-BE49-F238E27FC236}">
                <a16:creationId xmlns:a16="http://schemas.microsoft.com/office/drawing/2014/main" id="{681F642D-4276-B9AB-EE80-80858C6ECCC9}"/>
              </a:ext>
            </a:extLst>
          </p:cNvPr>
          <p:cNvSpPr/>
          <p:nvPr/>
        </p:nvSpPr>
        <p:spPr>
          <a:xfrm>
            <a:off x="645762" y="998939"/>
            <a:ext cx="5228337" cy="71671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1800" b="1" kern="0" spc="200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MAINTENANCE &amp; SHADOWING ACTIVITIES</a:t>
            </a:r>
          </a:p>
        </p:txBody>
      </p:sp>
      <p:sp>
        <p:nvSpPr>
          <p:cNvPr id="22" name="Left Body">
            <a:extLst>
              <a:ext uri="{FF2B5EF4-FFF2-40B4-BE49-F238E27FC236}">
                <a16:creationId xmlns:a16="http://schemas.microsoft.com/office/drawing/2014/main" id="{5925914A-EC23-859D-2043-74D41D7F9EA3}"/>
              </a:ext>
            </a:extLst>
          </p:cNvPr>
          <p:cNvSpPr/>
          <p:nvPr/>
        </p:nvSpPr>
        <p:spPr>
          <a:xfrm>
            <a:off x="633855" y="1682313"/>
            <a:ext cx="4406809" cy="1744001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Received KT from the Everest team on test suites across all brands — suite ownership, execution strategy, and Jenkins auto-scheduled jobs.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Understood daily execution processes, regression cycles, and automation maintenance workflows.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Analyzing daily Sanity Suite failures and performing RCA across automation, environment, and application issues.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endParaRPr lang="en-US" sz="160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>
            <a:extLst>
              <a:ext uri="{FF2B5EF4-FFF2-40B4-BE49-F238E27FC236}">
                <a16:creationId xmlns:a16="http://schemas.microsoft.com/office/drawing/2014/main" id="{0EEA0E7E-D05B-AB7F-C4E2-77824BCCBA12}"/>
              </a:ext>
            </a:extLst>
          </p:cNvPr>
          <p:cNvSpPr/>
          <p:nvPr/>
        </p:nvSpPr>
        <p:spPr>
          <a:xfrm>
            <a:off x="351758" y="4612746"/>
            <a:ext cx="10689428" cy="2081095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24466E"/>
            </a:solidFill>
          </a:ln>
        </p:spPr>
        <p:txBody>
          <a:bodyPr lIns="91440" tIns="45720" rIns="91440" bIns="45720" anchor="t"/>
          <a:lstStyle/>
          <a:p>
            <a:endParaRPr lang="en-US"/>
          </a:p>
          <a:p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Automated validation of Data Layer variables using Playwright across end-to-end user journeys.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Dynamic comparison of Data Layer values against UI data, business rules, and expected behavior.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Comprehensive reporting with PASS / FAIL / MISSING status, detailed comparison results, and HTML/CSV reports for faster analysis</a:t>
            </a:r>
            <a:endParaRPr lang="en-US"/>
          </a:p>
          <a:p>
            <a:pPr>
              <a:lnSpc>
                <a:spcPct val="110000"/>
              </a:lnSpc>
              <a:spcBef>
                <a:spcPts val="700"/>
              </a:spcBef>
            </a:pPr>
            <a:endParaRPr lang="en-US" sz="1600">
              <a:solidFill>
                <a:srgbClr val="334155"/>
              </a:solidFill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813445-88F5-3CCD-A580-5656CDABBA6E}"/>
              </a:ext>
            </a:extLst>
          </p:cNvPr>
          <p:cNvSpPr txBox="1">
            <a:spLocks/>
          </p:cNvSpPr>
          <p:nvPr/>
        </p:nvSpPr>
        <p:spPr>
          <a:xfrm>
            <a:off x="509813" y="290000"/>
            <a:ext cx="11172375" cy="900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ctr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  ONGOING ACTIVITIES – AUTOMATION TEAM</a:t>
            </a:r>
          </a:p>
          <a:p>
            <a:pPr algn="ctr"/>
            <a:endParaRPr lang="en-US" sz="3200" b="1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4" name="Left Header">
            <a:extLst>
              <a:ext uri="{FF2B5EF4-FFF2-40B4-BE49-F238E27FC236}">
                <a16:creationId xmlns:a16="http://schemas.microsoft.com/office/drawing/2014/main" id="{F8FE0781-AA24-AA16-D142-444AF3AEAD2C}"/>
              </a:ext>
            </a:extLst>
          </p:cNvPr>
          <p:cNvSpPr/>
          <p:nvPr/>
        </p:nvSpPr>
        <p:spPr>
          <a:xfrm>
            <a:off x="3824731" y="4916096"/>
            <a:ext cx="4525868" cy="5619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1800" b="1" kern="0" spc="200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DATA LAYER VALIDATION</a:t>
            </a:r>
          </a:p>
          <a:p>
            <a:endParaRPr lang="en-US" sz="1800" b="1" kern="0" spc="200">
              <a:solidFill>
                <a:srgbClr val="2446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ight Card">
            <a:extLst>
              <a:ext uri="{FF2B5EF4-FFF2-40B4-BE49-F238E27FC236}">
                <a16:creationId xmlns:a16="http://schemas.microsoft.com/office/drawing/2014/main" id="{84071B8F-44F9-56F3-21D8-F9610E1A35AC}"/>
              </a:ext>
            </a:extLst>
          </p:cNvPr>
          <p:cNvSpPr/>
          <p:nvPr/>
        </p:nvSpPr>
        <p:spPr>
          <a:xfrm>
            <a:off x="6096000" y="1005155"/>
            <a:ext cx="4795835" cy="305740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24466E"/>
            </a:solidFill>
          </a:ln>
        </p:spPr>
        <p:txBody>
          <a:bodyPr lIns="91440" tIns="45720" rIns="91440" bIns="45720" anchor="t"/>
          <a:lstStyle/>
          <a:p>
            <a:pPr>
              <a:lnSpc>
                <a:spcPct val="110000"/>
              </a:lnSpc>
              <a:spcBef>
                <a:spcPts val="700"/>
              </a:spcBef>
            </a:pPr>
            <a:r>
              <a:rPr lang="en-US" sz="1800" b="1" i="0" u="none" strike="noStrike" baseline="0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REGRESSION SUITE — SPRINT 26.16 /26.17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Automation scripting completed in Sprint 26.16 for AT and Loft — both Desktop and Mobile Web.</a:t>
            </a:r>
            <a:endParaRPr lang="en-US" sz="160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Jenkins job triggered, achieving an </a:t>
            </a:r>
            <a:r>
              <a:rPr lang="en-US" sz="1600" b="1">
                <a:solidFill>
                  <a:srgbClr val="24466E"/>
                </a:solidFill>
                <a:ea typeface="Calibri"/>
                <a:cs typeface="Calibri"/>
              </a:rPr>
              <a:t>84–85% pass rate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Report shared with the Everest Automation team for approval on </a:t>
            </a:r>
            <a:r>
              <a:rPr lang="en-US" sz="1600" b="1">
                <a:solidFill>
                  <a:srgbClr val="1E3A5C"/>
                </a:solidFill>
                <a:ea typeface="Calibri"/>
                <a:cs typeface="Calibri"/>
              </a:rPr>
              <a:t>PR #1652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endParaRPr lang="en-US" sz="1600">
              <a:ea typeface="Calibri"/>
              <a:cs typeface="Calibri"/>
            </a:endParaRPr>
          </a:p>
          <a:p>
            <a:endParaRPr lang="en-US" sz="1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786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30C6D-E6FF-13BC-53F5-6276E890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E93F4655-80AE-DFCA-B255-E38B5ED2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E5F6DD8-DB3F-DCF8-080F-92094E22CCFB}"/>
              </a:ext>
            </a:extLst>
          </p:cNvPr>
          <p:cNvSpPr txBox="1">
            <a:spLocks/>
          </p:cNvSpPr>
          <p:nvPr/>
        </p:nvSpPr>
        <p:spPr>
          <a:xfrm>
            <a:off x="509813" y="290000"/>
            <a:ext cx="11172375" cy="900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ctr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PLANNED ACTIVITIES – AUTOMATION TEAM</a:t>
            </a:r>
          </a:p>
          <a:p>
            <a:pPr algn="ctr"/>
            <a:endParaRPr lang="en-US" sz="3200" b="1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0" name="ORPOS Card"/>
          <p:cNvSpPr/>
          <p:nvPr/>
        </p:nvSpPr>
        <p:spPr>
          <a:xfrm>
            <a:off x="838200" y="15240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244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ORPOS MIGRATION</a:t>
            </a:r>
          </a:p>
          <a:p>
            <a:pPr algn="ctr">
              <a:lnSpc>
                <a:spcPct val="112000"/>
              </a:lnSpc>
              <a:spcBef>
                <a:spcPts val="900"/>
              </a:spcBef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Current framework built on Java and Sikuli to be migrated to Playwright and Visor.</a:t>
            </a:r>
          </a:p>
        </p:txBody>
      </p:sp>
      <p:sp>
        <p:nvSpPr>
          <p:cNvPr id="6" name="ECOMM Card"/>
          <p:cNvSpPr/>
          <p:nvPr/>
        </p:nvSpPr>
        <p:spPr>
          <a:xfrm>
            <a:off x="6629400" y="15240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244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ECOMM MIGRATION</a:t>
            </a:r>
          </a:p>
          <a:p>
            <a:pPr algn="ctr"/>
            <a:endParaRPr lang="en-US" sz="1800" b="1">
              <a:solidFill>
                <a:srgbClr val="24466E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Current framework is built on selenium/java to be migrated to playwright/typescript(AFTA FRAMEWORK)</a:t>
            </a:r>
            <a:b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</a:b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Execution will be based on priority based testcases.</a:t>
            </a:r>
            <a:br>
              <a:rPr lang="en-US" sz="1600">
                <a:latin typeface="Calibri"/>
                <a:ea typeface="Calibri"/>
                <a:cs typeface="Calibri"/>
              </a:rPr>
            </a:br>
            <a:br>
              <a:rPr lang="en-US" sz="1600">
                <a:latin typeface="Calibri"/>
                <a:ea typeface="Calibri"/>
                <a:cs typeface="Calibri"/>
              </a:rPr>
            </a:br>
            <a:endParaRPr lang="en-US" sz="160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1600">
              <a:solidFill>
                <a:srgbClr val="334155"/>
              </a:solidFill>
              <a:ea typeface="Calibri"/>
              <a:cs typeface="Calibri"/>
            </a:endParaRPr>
          </a:p>
        </p:txBody>
      </p:sp>
      <p:sp>
        <p:nvSpPr>
          <p:cNvPr id="2" name="CHICOS Card"/>
          <p:cNvSpPr/>
          <p:nvPr/>
        </p:nvSpPr>
        <p:spPr>
          <a:xfrm>
            <a:off x="838200" y="38862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244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CHICOS SHADOWING/MAINTAINANCE</a:t>
            </a:r>
          </a:p>
          <a:p>
            <a:pPr algn="ctr"/>
            <a:endParaRPr lang="en-US" sz="1800" b="1">
              <a:solidFill>
                <a:srgbClr val="24466E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Framework analysis is currently underway, with shadowing of the Chicos suites scheduled to begin shortly.</a:t>
            </a:r>
          </a:p>
        </p:txBody>
      </p:sp>
      <p:sp>
        <p:nvSpPr>
          <p:cNvPr id="5" name="UIDASH Card"/>
          <p:cNvSpPr/>
          <p:nvPr/>
        </p:nvSpPr>
        <p:spPr>
          <a:xfrm>
            <a:off x="6629400" y="38862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244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UI DASHBOARD – PHASE 2</a:t>
            </a:r>
          </a:p>
          <a:p>
            <a:pPr algn="ctr"/>
            <a:endParaRPr lang="en-US" sz="1000" b="1">
              <a:solidFill>
                <a:srgbClr val="24466E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Implementation of multiple user login</a:t>
            </a: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User scheduling history with timestamp</a:t>
            </a: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AI-powered test summaries</a:t>
            </a:r>
          </a:p>
        </p:txBody>
      </p:sp>
    </p:spTree>
    <p:extLst>
      <p:ext uri="{BB962C8B-B14F-4D97-AF65-F5344CB8AC3E}">
        <p14:creationId xmlns:p14="http://schemas.microsoft.com/office/powerpoint/2010/main" val="3339516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hankYou"/>
          <p:cNvSpPr txBox="1"/>
          <p:nvPr/>
        </p:nvSpPr>
        <p:spPr>
          <a:xfrm>
            <a:off x="1525712" y="2400475"/>
            <a:ext cx="9142288" cy="20682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14" y="1121797"/>
            <a:ext cx="933572" cy="1099541"/>
          </a:xfrm>
          <a:prstGeom prst="rect">
            <a:avLst/>
          </a:prstGeom>
        </p:spPr>
      </p:pic>
      <p:sp>
        <p:nvSpPr>
          <p:cNvPr id="710" name="TY Sub"/>
          <p:cNvSpPr txBox="1"/>
          <p:nvPr/>
        </p:nvSpPr>
        <p:spPr>
          <a:xfrm>
            <a:off x="1525712" y="4520000"/>
            <a:ext cx="9142288" cy="45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>
                <a:solidFill>
                  <a:srgbClr val="24466E"/>
                </a:solidFill>
                <a:latin typeface="Calibri"/>
                <a:cs typeface="Calibri"/>
              </a:rPr>
              <a:t>Questions &amp; Discussion</a:t>
            </a:r>
          </a:p>
        </p:txBody>
      </p:sp>
      <p:sp>
        <p:nvSpPr>
          <p:cNvPr id="711" name="TY Contact"/>
          <p:cNvSpPr txBox="1"/>
          <p:nvPr/>
        </p:nvSpPr>
        <p:spPr>
          <a:xfrm>
            <a:off x="1525712" y="5080000"/>
            <a:ext cx="9142288" cy="4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>
                <a:solidFill>
                  <a:srgbClr val="64748B"/>
                </a:solidFill>
                <a:latin typeface="Calibri"/>
                <a:cs typeface="Calibri"/>
              </a:rPr>
              <a:t>Automation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5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AUTO POM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revision>4</cp:revision>
  <dcterms:created xsi:type="dcterms:W3CDTF">2026-06-17T07:36:54Z</dcterms:created>
  <dcterms:modified xsi:type="dcterms:W3CDTF">2026-06-18T10:07:27Z</dcterms:modified>
</cp:coreProperties>
</file>