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147481700" r:id="rId2"/>
    <p:sldId id="2147481710" r:id="rId3"/>
    <p:sldId id="2147481714" r:id="rId4"/>
    <p:sldId id="2147481715" r:id="rId5"/>
    <p:sldId id="2147481711" r:id="rId6"/>
    <p:sldId id="2147481688" r:id="rId7"/>
    <p:sldId id="2147481712" r:id="rId8"/>
    <p:sldId id="2147481685" r:id="rId9"/>
    <p:sldId id="2147481713" r:id="rId10"/>
    <p:sldId id="256" r:id="rId11"/>
    <p:sldId id="2147481720" r:id="rId12"/>
    <p:sldId id="259" r:id="rId13"/>
    <p:sldId id="257" r:id="rId14"/>
    <p:sldId id="548" r:id="rId15"/>
    <p:sldId id="2147481689" r:id="rId16"/>
    <p:sldId id="214748170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2AAFF4C-C030-F8CF-32F5-D6FA505F8E9E}" v="7" dt="2026-06-18T05:02:24.457"/>
    <p1510:client id="{B645BBBD-947A-7C72-9DBC-22B83B255327}" v="125" dt="2026-06-17T13:42:19.524"/>
    <p1510:client id="{B7263528-15EF-B1DA-ED32-01E89E2FDEFB}" v="4" dt="2026-06-17T10:16:06.111"/>
    <p1510:client id="{D2E7F428-A677-BEBA-0D21-0B6BA5512139}" v="6" dt="2026-06-18T10:07:21.655"/>
    <p1510:client id="{FCD48506-F5B4-4785-CBCD-152FACEC2516}" v="24" dt="2026-06-18T04:05:41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6C11-E66C-A678-53C8-199576AF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5B1D7-E5C1-A8A2-D146-005C4705B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EE276-6D80-56F5-8422-B297E2E0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AC62C-F3A6-80C3-E222-6AAACDFC3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89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rand Triangle"/>
          <p:cNvSpPr/>
          <p:nvPr/>
        </p:nvSpPr>
        <p:spPr>
          <a:xfrm rot="5400000">
            <a:off x="91440" y="411480"/>
            <a:ext cx="658368" cy="457200"/>
          </a:xfrm>
          <a:prstGeom prst="triangle">
            <a:avLst/>
          </a:prstGeom>
          <a:solidFill>
            <a:srgbClr val="8347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Brand Triangle"/>
          <p:cNvSpPr/>
          <p:nvPr/>
        </p:nvSpPr>
        <p:spPr>
          <a:xfrm rot="5400000">
            <a:off x="91440" y="411480"/>
            <a:ext cx="658368" cy="457200"/>
          </a:xfrm>
          <a:prstGeom prst="triangle">
            <a:avLst/>
          </a:prstGeom>
          <a:solidFill>
            <a:srgbClr val="8347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libr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4E68339-1B90-44F9-BCC4-4600A6E2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itle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AUTOMATION ASSESSMENT &amp; ROADMAP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Subtitle"/>
          <p:cNvSpPr txBox="1"/>
          <p:nvPr/>
        </p:nvSpPr>
        <p:spPr>
          <a:xfrm>
            <a:off x="1525712" y="4629235"/>
            <a:ext cx="9142288" cy="148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Assessing current automation landscape and charting the path to a unified, AI-powered framework.</a:t>
            </a:r>
          </a:p>
        </p:txBody>
      </p:sp>
      <p:pic>
        <p:nvPicPr>
          <p:cNvPr id="5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  <p:sp>
        <p:nvSpPr>
          <p:cNvPr id="950" name="Brand Triangle"/>
          <p:cNvSpPr/>
          <p:nvPr/>
        </p:nvSpPr>
        <p:spPr>
          <a:xfrm rot="5400000">
            <a:off x="91440" y="411480"/>
            <a:ext cx="658368" cy="457200"/>
          </a:xfrm>
          <a:prstGeom prst="triangle">
            <a:avLst/>
          </a:prstGeom>
          <a:solidFill>
            <a:srgbClr val="8347A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Challenges in the Current Framework Landscape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331494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Our research shows the current framework has significant drawbacks — a strong case for moving to a unified approach.</a:t>
            </a:r>
          </a:p>
        </p:txBody>
      </p:sp>
      <p:sp>
        <p:nvSpPr>
          <p:cNvPr id="962" name="Logo BG"/>
          <p:cNvSpPr/>
          <p:nvPr/>
        </p:nvSpPr>
        <p:spPr>
          <a:xfrm>
            <a:off x="11207696" y="360000"/>
            <a:ext cx="688640" cy="786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82" name="Brand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ection Heading"/>
          <p:cNvSpPr>
            <a:spLocks noGrp="1"/>
          </p:cNvSpPr>
          <p:nvPr/>
        </p:nvSpPr>
        <p:spPr>
          <a:xfrm>
            <a:off x="880000" y="4300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600" b="0" dirty="0">
                <a:solidFill>
                  <a:srgbClr val="595959"/>
                </a:solidFill>
                <a:latin typeface="Calibri"/>
              </a:rPr>
              <a:t>Challenges in the Current Framework Landscape</a:t>
            </a:r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51093" y="1067557"/>
            <a:ext cx="10120191" cy="1140124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Multiple Frameworks Across Applications</a:t>
            </a:r>
          </a:p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Different implementations and standards across projects (BDD, TestNG, etc.).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089784" y="2389328"/>
            <a:ext cx="10269405" cy="113508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Obsolete and Redundant Components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Some suites and utilities are no longer actively maintained, and deprecated test cases continue to exist in execution suites.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Fragmented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Business logic, element interactions, and utilities are distributed across multiple layers, increasing complexity.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24244" y="5133180"/>
            <a:ext cx="9865611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27452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High Maintenance Effort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Frequent locator updates increase maintenance overhead.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970" name="Contd"/>
          <p:cNvSpPr txBox="1"/>
          <p:nvPr/>
        </p:nvSpPr>
        <p:spPr>
          <a:xfrm>
            <a:off x="4671889" y="6396862"/>
            <a:ext cx="11172375" cy="5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800" b="1" i="1">
                <a:solidFill>
                  <a:srgbClr val="64748B"/>
                </a:solidFill>
                <a:latin typeface="Calibri"/>
                <a:cs typeface="Calibri"/>
              </a:rPr>
              <a:t>(contd.)</a:t>
            </a:r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ection Heading"/>
          <p:cNvSpPr>
            <a:spLocks noGrp="1"/>
          </p:cNvSpPr>
          <p:nvPr/>
        </p:nvSpPr>
        <p:spPr>
          <a:xfrm>
            <a:off x="880000" y="4300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600" b="0" dirty="0">
                <a:solidFill>
                  <a:srgbClr val="595959"/>
                </a:solidFill>
                <a:latin typeface="Calibri"/>
              </a:rPr>
              <a:t>Challenges in the Current Framework Landscape</a:t>
            </a:r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389184" y="1146541"/>
            <a:ext cx="9982099" cy="10611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Inconsistent Test Data Management</a:t>
            </a:r>
          </a:p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Multiple test data sources and synchronization issues impact test reliability.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Limited Test Traceability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Test cases are not functionally grouped, making maintenance and impact analysis difficult.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Insufficient Validation and Visibility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Limited step-level verification and debugging capabilities.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89184" y="5133180"/>
            <a:ext cx="9800672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34420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Lack of AI Adoption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No AI-assisted failure analysis, test insights, or intelligent reporting.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Why Aspire Unified Framework (AFTA)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3807619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Here is why a single, AI-powered framework across all brands is the right way forward.</a:t>
            </a:r>
          </a:p>
        </p:txBody>
      </p:sp>
      <p:sp>
        <p:nvSpPr>
          <p:cNvPr id="965" name="Logo BG"/>
          <p:cNvSpPr/>
          <p:nvPr/>
        </p:nvSpPr>
        <p:spPr>
          <a:xfrm>
            <a:off x="11207696" y="360000"/>
            <a:ext cx="688640" cy="786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85" name="Brand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ection Heading"/>
          <p:cNvSpPr>
            <a:spLocks noGrp="1"/>
          </p:cNvSpPr>
          <p:nvPr/>
        </p:nvSpPr>
        <p:spPr>
          <a:xfrm>
            <a:off x="880000" y="4300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600" b="0" dirty="0">
                <a:solidFill>
                  <a:srgbClr val="595959"/>
                </a:solidFill>
                <a:latin typeface="Calibri"/>
              </a:rPr>
              <a:t>Why Aspire Unified Framework (AFTA)</a:t>
            </a:r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81079" y="1005031"/>
            <a:ext cx="9908777" cy="120264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4677" y="1373578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Auto 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Report Portal-Powered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86477"/>
            <a:ext cx="9938763" cy="10379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Orpos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9" y="3708430"/>
            <a:ext cx="9917728" cy="1166906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 and supports parallel runs.</a:t>
            </a:r>
            <a:endParaRPr lang="en-US" sz="1600" dirty="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3578" y="5247207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181908"/>
            <a:ext cx="9575344" cy="1316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 dirty="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Auto POM – Intelligent Locator &amp; AI Fallback Strategy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331494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How intelligent, multi-level locator generation with AI fallback makes automation faster and far easier to maintain.</a:t>
            </a:r>
          </a:p>
        </p:txBody>
      </p:sp>
      <p:sp>
        <p:nvSpPr>
          <p:cNvPr id="967" name="Logo BG"/>
          <p:cNvSpPr/>
          <p:nvPr/>
        </p:nvSpPr>
        <p:spPr>
          <a:xfrm>
            <a:off x="11207696" y="360000"/>
            <a:ext cx="688640" cy="786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87" name="Brand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izValue"/>
          <p:cNvSpPr txBox="1"/>
          <p:nvPr/>
        </p:nvSpPr>
        <p:spPr>
          <a:xfrm>
            <a:off x="826357" y="310000"/>
            <a:ext cx="9500000" cy="7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endParaRPr lang="en-US" sz="1600" b="1" dirty="0">
              <a:solidFill>
                <a:srgbClr val="24466E"/>
              </a:solidFill>
              <a:latin typeface="Calibri"/>
              <a:cs typeface="Calibri"/>
            </a:endParaRPr>
          </a:p>
        </p:txBody>
      </p:sp>
      <p:sp>
        <p:nvSpPr>
          <p:cNvPr id="850" name="Bullets BG"/>
          <p:cNvSpPr/>
          <p:nvPr/>
        </p:nvSpPr>
        <p:spPr>
          <a:xfrm>
            <a:off x="520000" y="1140000"/>
            <a:ext cx="10868774" cy="1505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pPr algn="ctr"/>
            <a:r>
              <a:rPr lang="en-US" sz="2000" b="1" dirty="0">
                <a:solidFill>
                  <a:srgbClr val="24466E"/>
                </a:solidFill>
                <a:cs typeface="Calibri"/>
              </a:rPr>
              <a:t>Business Value :</a:t>
            </a:r>
            <a:br>
              <a:rPr lang="en-US" b="1" dirty="0">
                <a:solidFill>
                  <a:srgbClr val="24466E"/>
                </a:solidFill>
                <a:cs typeface="Calibri"/>
              </a:rPr>
            </a:br>
            <a:r>
              <a:rPr lang="en-US" b="1" dirty="0">
                <a:solidFill>
                  <a:srgbClr val="24466E"/>
                </a:solidFill>
                <a:cs typeface="Calibri"/>
              </a:rPr>
              <a:t>Auto POM is a Chrome extension that creates production-ready Page functions — eliminating manual locator management and reducing script failures.</a:t>
            </a:r>
          </a:p>
        </p:txBody>
      </p:sp>
      <p:sp>
        <p:nvSpPr>
          <p:cNvPr id="104" name="FlowLabel"/>
          <p:cNvSpPr txBox="1"/>
          <p:nvPr/>
        </p:nvSpPr>
        <p:spPr>
          <a:xfrm>
            <a:off x="700000" y="3180000"/>
            <a:ext cx="10792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spc="200">
                <a:solidFill>
                  <a:srgbClr val="0E7C7B"/>
                </a:solidFill>
                <a:latin typeface="Calibri"/>
                <a:cs typeface="Calibri"/>
              </a:rPr>
              <a:t>CORE MECHANISM OF AUTOPOM</a:t>
            </a:r>
          </a:p>
        </p:txBody>
      </p:sp>
      <p:sp>
        <p:nvSpPr>
          <p:cNvPr id="105" name="FlowCard1"/>
          <p:cNvSpPr/>
          <p:nvPr/>
        </p:nvSpPr>
        <p:spPr>
          <a:xfrm>
            <a:off x="7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1E2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Num1"/>
          <p:cNvSpPr/>
          <p:nvPr/>
        </p:nvSpPr>
        <p:spPr>
          <a:xfrm>
            <a:off x="2886000" y="3315000"/>
            <a:ext cx="620000" cy="62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7" name="FlowTitle1"/>
          <p:cNvSpPr txBox="1"/>
          <p:nvPr/>
        </p:nvSpPr>
        <p:spPr>
          <a:xfrm>
            <a:off x="911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E293B"/>
                </a:solidFill>
                <a:latin typeface="Calibri"/>
                <a:cs typeface="Calibri"/>
              </a:rPr>
              <a:t>Locator </a:t>
            </a:r>
            <a:r>
              <a:rPr lang="en-US" b="1" dirty="0">
                <a:solidFill>
                  <a:srgbClr val="1E293B"/>
                </a:solidFill>
                <a:latin typeface="Calibri"/>
                <a:cs typeface="Calibri"/>
              </a:rPr>
              <a:t>Priority</a:t>
            </a:r>
          </a:p>
        </p:txBody>
      </p:sp>
      <p:sp>
        <p:nvSpPr>
          <p:cNvPr id="108" name="FlowDesc1"/>
          <p:cNvSpPr txBox="1"/>
          <p:nvPr/>
        </p:nvSpPr>
        <p:spPr>
          <a:xfrm>
            <a:off x="10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Prioritizes ID, Name, Data &amp; Accessibility attributes, CSS selectors, then XPath — resolving the most reliable locator before any AI is invoked.</a:t>
            </a:r>
          </a:p>
        </p:txBody>
      </p:sp>
      <p:sp>
        <p:nvSpPr>
          <p:cNvPr id="109" name="FlowCard2"/>
          <p:cNvSpPr/>
          <p:nvPr/>
        </p:nvSpPr>
        <p:spPr>
          <a:xfrm>
            <a:off x="65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C282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FlowNum2"/>
          <p:cNvSpPr/>
          <p:nvPr/>
        </p:nvSpPr>
        <p:spPr>
          <a:xfrm>
            <a:off x="8709000" y="3355000"/>
            <a:ext cx="620000" cy="620000"/>
          </a:xfrm>
          <a:prstGeom prst="ellipse">
            <a:avLst/>
          </a:prstGeom>
          <a:solidFill>
            <a:srgbClr val="C2820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1" name="FlowTitle2"/>
          <p:cNvSpPr txBox="1"/>
          <p:nvPr/>
        </p:nvSpPr>
        <p:spPr>
          <a:xfrm>
            <a:off x="6696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AI Fallback</a:t>
            </a:r>
          </a:p>
        </p:txBody>
      </p:sp>
      <p:sp>
        <p:nvSpPr>
          <p:cNvPr id="112" name="FlowDesc2"/>
          <p:cNvSpPr txBox="1"/>
          <p:nvPr/>
        </p:nvSpPr>
        <p:spPr>
          <a:xfrm>
            <a:off x="68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When deterministic strategies fail or score low-confidence, AI reads the DOM, element attributes &amp; surrounding context to propose stable, maintainable locators.</a:t>
            </a:r>
          </a:p>
        </p:txBody>
      </p:sp>
      <p:sp>
        <p:nvSpPr>
          <p:cNvPr id="113" name="FlowArrow"/>
          <p:cNvSpPr/>
          <p:nvPr/>
        </p:nvSpPr>
        <p:spPr>
          <a:xfrm>
            <a:off x="5786000" y="4925000"/>
            <a:ext cx="620000" cy="24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00" name="Brai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000" y="4170000"/>
            <a:ext cx="540000" cy="540000"/>
          </a:xfrm>
          <a:prstGeom prst="rect">
            <a:avLst/>
          </a:prstGeom>
        </p:spPr>
      </p:pic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51F10AF3-7EFD-0B96-3D86-10E73AC2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72" y="4046536"/>
            <a:ext cx="566928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Self-Healing – Test Automation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367665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A self-correcting suite that recovers from UI changes on its own, cutting flakiness and manual upkeep.</a:t>
            </a:r>
          </a:p>
        </p:txBody>
      </p:sp>
      <p:sp>
        <p:nvSpPr>
          <p:cNvPr id="969" name="Logo BG"/>
          <p:cNvSpPr/>
          <p:nvPr/>
        </p:nvSpPr>
        <p:spPr>
          <a:xfrm>
            <a:off x="11207696" y="360000"/>
            <a:ext cx="688640" cy="786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89" name="Brand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3421" y="64598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>
              <a:solidFill>
                <a:srgbClr val="24466E"/>
              </a:solidFill>
              <a:latin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>
              <a:solidFill>
                <a:srgbClr val="1E3A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1094033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 pitchFamily="34" charset="-122"/>
                <a:cs typeface="Calibri"/>
              </a:rPr>
              <a:t>Playwright · TypeScript · Azure OpenAI GPT-4.1</a:t>
            </a:r>
            <a:endParaRPr lang="en-US" sz="1700" b="1" dirty="0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FALLBACK CHAIN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1B34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DB Primary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Stored locator resolved</a:t>
            </a:r>
            <a:endParaRPr lang="en-US" sz="1700" b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direct from elements table</a:t>
            </a:r>
            <a:endParaRPr lang="en-US" sz="1700" b="1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10" y="5458968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48942" y="4765834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822" y="502005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 Smart Locators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role → </a:t>
            </a:r>
            <a:r>
              <a:rPr lang="en-US" sz="1700" b="1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testId</a:t>
            </a: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 → text → </a:t>
            </a:r>
            <a:r>
              <a:rPr lang="en-US" sz="1700" b="1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css</a:t>
            </a:r>
            <a:endParaRPr lang="en-US" sz="1700" b="1">
              <a:latin typeface="Calibri"/>
              <a:cs typeface="Calibri"/>
            </a:endParaRPr>
          </a:p>
          <a:p>
            <a:pPr>
              <a:lnSpc>
                <a:spcPct val="105000"/>
              </a:lnSpc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→ </a:t>
            </a:r>
            <a:r>
              <a:rPr lang="en-US" sz="1700" b="1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xpath</a:t>
            </a: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700" b="1">
              <a:solidFill>
                <a:srgbClr val="334155"/>
              </a:solidFill>
              <a:latin typeface="Calibri"/>
              <a:cs typeface="Calibri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646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85532" y="47091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 AI Healing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GPT-4.1 vision + DOM context, confidence-gated</a:t>
            </a:r>
            <a:endParaRPr lang="en-US" sz="1700" b="1">
              <a:latin typeface="Calibri"/>
              <a:ea typeface="Calibri"/>
              <a:cs typeface="Calibr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94360" y="15864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B7B8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suite</a:t>
            </a: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1143000" y="2436876"/>
            <a:ext cx="7270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Deterministic tiers absorb most UI changes; AI handles novel breaks.</a:t>
            </a:r>
            <a:endParaRPr lang="en-US" sz="1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1A325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3A5C"/>
                </a:solidFill>
                <a:latin typeface="Calibri"/>
                <a:ea typeface="Calibri"/>
                <a:cs typeface="Calibri"/>
              </a:rPr>
              <a:t>Lower flakiness &amp; upkeep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24211" y="3138654"/>
            <a:ext cx="6049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Cuts manual selector maintenance and false failures substantially.</a:t>
            </a:r>
            <a:endParaRPr lang="en-US" sz="1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C8860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5460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Proven against the live Ann Taylor staging funnel.</a:t>
            </a:r>
            <a:endParaRPr lang="en-US" sz="16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1977390" y="5642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24466E"/>
                </a:solidFill>
                <a:latin typeface="Calibri"/>
                <a:ea typeface="Calibri"/>
              </a:rPr>
              <a:t>Business value – Fixing flaky tests on its own – Less maintenance - Faster releases</a:t>
            </a:r>
          </a:p>
        </p:txBody>
      </p:sp>
      <p:sp>
        <p:nvSpPr>
          <p:cNvPr id="990" name="PNum 01"/>
          <p:cNvSpPr/>
          <p:nvPr/>
        </p:nvSpPr>
        <p:spPr>
          <a:xfrm>
            <a:off x="548640" y="22951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91" name="PNum 02"/>
          <p:cNvSpPr/>
          <p:nvPr/>
        </p:nvSpPr>
        <p:spPr>
          <a:xfrm>
            <a:off x="548640" y="2990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92" name="PNum 03"/>
          <p:cNvSpPr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Image Based Automation Tool – Visor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3807619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>
                <a:solidFill>
                  <a:srgbClr val="EAEFF7"/>
                </a:solidFill>
              </a:rPr>
              <a:t>Visual automation framework that combines OpenCV image matching, OCR, and input control into one Node.js package — enabling automation of Windows applications without DOM or browser access.</a:t>
            </a:r>
          </a:p>
        </p:txBody>
      </p:sp>
      <p:sp>
        <p:nvSpPr>
          <p:cNvPr id="971" name="Logo BG"/>
          <p:cNvSpPr/>
          <p:nvPr/>
        </p:nvSpPr>
        <p:spPr>
          <a:xfrm>
            <a:off x="11207696" y="360000"/>
            <a:ext cx="688640" cy="786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91" name="Brand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d Title"/>
          <p:cNvSpPr txBox="1"/>
          <p:nvPr/>
        </p:nvSpPr>
        <p:spPr>
          <a:xfrm>
            <a:off x="509813" y="331392"/>
            <a:ext cx="10156141" cy="508607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IMAGE BASED AUTOMATION TOOL – VISOR</a:t>
            </a:r>
          </a:p>
        </p:txBody>
      </p:sp>
      <p:sp>
        <p:nvSpPr>
          <p:cNvPr id="203" name="KeyFeaturesLabel"/>
          <p:cNvSpPr txBox="1"/>
          <p:nvPr/>
        </p:nvSpPr>
        <p:spPr>
          <a:xfrm>
            <a:off x="900000" y="1550000"/>
            <a:ext cx="10392000" cy="3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spc="200">
                <a:solidFill>
                  <a:srgbClr val="24466E"/>
                </a:solidFill>
                <a:latin typeface="Calibri"/>
                <a:cs typeface="Calibri"/>
              </a:rPr>
              <a:t>KEY FEATURES</a:t>
            </a:r>
          </a:p>
        </p:txBody>
      </p:sp>
      <p:sp>
        <p:nvSpPr>
          <p:cNvPr id="204" name="PNum1"/>
          <p:cNvSpPr/>
          <p:nvPr/>
        </p:nvSpPr>
        <p:spPr>
          <a:xfrm>
            <a:off x="1050000" y="2150000"/>
            <a:ext cx="520000" cy="520000"/>
          </a:xfrm>
          <a:prstGeom prst="ellipse">
            <a:avLst/>
          </a:prstGeom>
          <a:solidFill>
            <a:srgbClr val="0B7B8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205" name="PText1"/>
          <p:cNvSpPr txBox="1"/>
          <p:nvPr/>
        </p:nvSpPr>
        <p:spPr>
          <a:xfrm>
            <a:off x="1750000" y="215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Multi-scale image matching</a:t>
            </a:r>
          </a:p>
        </p:txBody>
      </p:sp>
      <p:sp>
        <p:nvSpPr>
          <p:cNvPr id="206" name="PNum2"/>
          <p:cNvSpPr/>
          <p:nvPr/>
        </p:nvSpPr>
        <p:spPr>
          <a:xfrm>
            <a:off x="1050000" y="2870000"/>
            <a:ext cx="520000" cy="520000"/>
          </a:xfrm>
          <a:prstGeom prst="ellipse">
            <a:avLst/>
          </a:prstGeom>
          <a:solidFill>
            <a:srgbClr val="1A325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207" name="PText2"/>
          <p:cNvSpPr txBox="1"/>
          <p:nvPr/>
        </p:nvSpPr>
        <p:spPr>
          <a:xfrm>
            <a:off x="1750000" y="287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Full-screen and region-based OCR</a:t>
            </a:r>
          </a:p>
        </p:txBody>
      </p:sp>
      <p:sp>
        <p:nvSpPr>
          <p:cNvPr id="208" name="PNum3"/>
          <p:cNvSpPr/>
          <p:nvPr/>
        </p:nvSpPr>
        <p:spPr>
          <a:xfrm>
            <a:off x="1050000" y="3590000"/>
            <a:ext cx="520000" cy="520000"/>
          </a:xfrm>
          <a:prstGeom prst="ellipse">
            <a:avLst/>
          </a:prstGeom>
          <a:solidFill>
            <a:srgbClr val="C8860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209" name="PText3"/>
          <p:cNvSpPr txBox="1"/>
          <p:nvPr/>
        </p:nvSpPr>
        <p:spPr>
          <a:xfrm>
            <a:off x="1750000" y="359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Automated mouse and keyboard input</a:t>
            </a:r>
          </a:p>
        </p:txBody>
      </p:sp>
      <p:sp>
        <p:nvSpPr>
          <p:cNvPr id="210" name="PNum4"/>
          <p:cNvSpPr/>
          <p:nvPr/>
        </p:nvSpPr>
        <p:spPr>
          <a:xfrm>
            <a:off x="1050000" y="4310000"/>
            <a:ext cx="520000" cy="520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211" name="PText4"/>
          <p:cNvSpPr txBox="1"/>
          <p:nvPr/>
        </p:nvSpPr>
        <p:spPr>
          <a:xfrm>
            <a:off x="1750000" y="431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Barcode scanning</a:t>
            </a:r>
          </a:p>
        </p:txBody>
      </p:sp>
      <p:sp>
        <p:nvSpPr>
          <p:cNvPr id="212" name="PNum5"/>
          <p:cNvSpPr/>
          <p:nvPr/>
        </p:nvSpPr>
        <p:spPr>
          <a:xfrm>
            <a:off x="1050000" y="5030000"/>
            <a:ext cx="520000" cy="520000"/>
          </a:xfrm>
          <a:prstGeom prst="ellipse">
            <a:avLst/>
          </a:prstGeom>
          <a:solidFill>
            <a:srgbClr val="0B7B8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05</a:t>
            </a:r>
          </a:p>
        </p:txBody>
      </p:sp>
      <p:sp>
        <p:nvSpPr>
          <p:cNvPr id="213" name="PText5"/>
          <p:cNvSpPr txBox="1"/>
          <p:nvPr/>
        </p:nvSpPr>
        <p:spPr>
          <a:xfrm>
            <a:off x="1750000" y="503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Built-in display scaling detection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960" name="Page Number"/>
          <p:cNvSpPr txBox="1"/>
          <p:nvPr/>
        </p:nvSpPr>
        <p:spPr>
          <a:xfrm>
            <a:off x="11500000" y="6420000"/>
            <a:ext cx="500000" cy="3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endParaRPr lang="en-US" sz="1000">
              <a:solidFill>
                <a:srgbClr val="94A3B8"/>
              </a:solidFill>
              <a:latin typeface="Calibri"/>
              <a:cs typeface="Calibri"/>
            </a:endParaRPr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FAAE73F4-B00F-F35E-6B47-5E4DD203674C}"/>
              </a:ext>
            </a:extLst>
          </p:cNvPr>
          <p:cNvSpPr/>
          <p:nvPr/>
        </p:nvSpPr>
        <p:spPr>
          <a:xfrm>
            <a:off x="699936" y="6040000"/>
            <a:ext cx="10792128" cy="43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https://www</a:t>
            </a:r>
            <a:r>
              <a:rPr lang="en-US" sz="1600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npmjs.com/package/@aspiresys/visor</a:t>
            </a: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1139-2DF3-5811-5EAB-538996CC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92399E-B3E9-BBA7-7AF0-B3327EA5F28E}"/>
              </a:ext>
            </a:extLst>
          </p:cNvPr>
          <p:cNvSpPr/>
          <p:nvPr/>
        </p:nvSpPr>
        <p:spPr>
          <a:xfrm>
            <a:off x="0" y="5028353"/>
            <a:ext cx="12196156" cy="22318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3EBDFA-C7C7-F40A-D879-AAC5DADB807A}"/>
              </a:ext>
            </a:extLst>
          </p:cNvPr>
          <p:cNvSpPr/>
          <p:nvPr/>
        </p:nvSpPr>
        <p:spPr>
          <a:xfrm>
            <a:off x="548640" y="6611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>
              <a:solidFill>
                <a:srgbClr val="24466E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21923-09F3-02D8-1245-89AB1A580F4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AFTA DASHBOARD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endParaRPr lang="en-US" sz="2800" dirty="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800" b="1" dirty="0">
              <a:solidFill>
                <a:srgbClr val="1E3A5C"/>
              </a:solidFill>
              <a:latin typeface="Calibri"/>
              <a:ea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708ED-431B-572B-510F-F2E4280C8915}"/>
              </a:ext>
            </a:extLst>
          </p:cNvPr>
          <p:cNvSpPr/>
          <p:nvPr/>
        </p:nvSpPr>
        <p:spPr>
          <a:xfrm>
            <a:off x="601556" y="88839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24466E"/>
                </a:solidFill>
                <a:latin typeface="Calibri"/>
                <a:ea typeface="Calibri"/>
              </a:rPr>
              <a:t>Unified Test Automation Platform for Execution, Reporting and Analytics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04CA27-054F-2DC5-675B-73B6B8A434DC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20DE9D-76D8-D7AD-3E9B-3B53BF4D8E91}"/>
              </a:ext>
            </a:extLst>
          </p:cNvPr>
          <p:cNvSpPr/>
          <p:nvPr/>
        </p:nvSpPr>
        <p:spPr>
          <a:xfrm>
            <a:off x="485140" y="513665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>
                <a:solidFill>
                  <a:srgbClr val="24466E"/>
                </a:solidFill>
                <a:latin typeface="Calibri"/>
                <a:cs typeface="Calibri"/>
              </a:rPr>
              <a:t>TECH STACK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E0FD926-50E5-6AA1-BCF6-4A8331671995}"/>
              </a:ext>
            </a:extLst>
          </p:cNvPr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B9D6C9C-99CC-A1BA-F9B7-708B7E87C675}"/>
              </a:ext>
            </a:extLst>
          </p:cNvPr>
          <p:cNvSpPr/>
          <p:nvPr/>
        </p:nvSpPr>
        <p:spPr>
          <a:xfrm>
            <a:off x="4707867" y="5294745"/>
            <a:ext cx="509386" cy="34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90A8B79-4B7B-0668-B7A1-D8C466C4A41D}"/>
              </a:ext>
            </a:extLst>
          </p:cNvPr>
          <p:cNvSpPr/>
          <p:nvPr/>
        </p:nvSpPr>
        <p:spPr>
          <a:xfrm>
            <a:off x="914400" y="143218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4466E"/>
                </a:solidFill>
                <a:latin typeface="Calibri"/>
                <a:ea typeface="Calibri"/>
              </a:rPr>
              <a:t>Features in AFTA</a:t>
            </a:r>
            <a:endParaRPr lang="en-US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9712328-0FF8-D35C-83DB-521B576FF969}"/>
              </a:ext>
            </a:extLst>
          </p:cNvPr>
          <p:cNvSpPr/>
          <p:nvPr/>
        </p:nvSpPr>
        <p:spPr>
          <a:xfrm>
            <a:off x="535021" y="1984211"/>
            <a:ext cx="457200" cy="457200"/>
          </a:xfrm>
          <a:prstGeom prst="ellipse">
            <a:avLst/>
          </a:prstGeom>
          <a:solidFill>
            <a:srgbClr val="0B7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E84D1DB-6D33-6FB9-4142-CE43B7F7D326}"/>
              </a:ext>
            </a:extLst>
          </p:cNvPr>
          <p:cNvSpPr/>
          <p:nvPr/>
        </p:nvSpPr>
        <p:spPr>
          <a:xfrm>
            <a:off x="1107301" y="205664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Runner</a:t>
            </a:r>
            <a:endParaRPr lang="en-US" dirty="0">
              <a:latin typeface="Calibri" panose="020B0004020202020204"/>
              <a:cs typeface="Calibri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F055932-9141-8068-E36E-78FB40DD3092}"/>
              </a:ext>
            </a:extLst>
          </p:cNvPr>
          <p:cNvSpPr/>
          <p:nvPr/>
        </p:nvSpPr>
        <p:spPr>
          <a:xfrm>
            <a:off x="1081847" y="228405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Calibri"/>
                <a:cs typeface="Calibri"/>
              </a:rPr>
              <a:t>Execute and monitor test suites with build history</a:t>
            </a:r>
            <a:endParaRPr lang="en-US" dirty="0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50344F6F-FBBF-41F0-D249-0A1FDE102CB9}"/>
              </a:ext>
            </a:extLst>
          </p:cNvPr>
          <p:cNvSpPr/>
          <p:nvPr/>
        </p:nvSpPr>
        <p:spPr>
          <a:xfrm>
            <a:off x="546225" y="2677101"/>
            <a:ext cx="457200" cy="457200"/>
          </a:xfrm>
          <a:prstGeom prst="ellipse">
            <a:avLst/>
          </a:prstGeom>
          <a:solidFill>
            <a:srgbClr val="1A3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BC1B32A-1724-9C4E-64AC-4000B4BA779A}"/>
              </a:ext>
            </a:extLst>
          </p:cNvPr>
          <p:cNvSpPr/>
          <p:nvPr/>
        </p:nvSpPr>
        <p:spPr>
          <a:xfrm>
            <a:off x="1094574" y="2738429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Data Generator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664B4-5C26-F399-63F6-162C7EDF5B80}"/>
              </a:ext>
            </a:extLst>
          </p:cNvPr>
          <p:cNvSpPr/>
          <p:nvPr/>
        </p:nvSpPr>
        <p:spPr>
          <a:xfrm>
            <a:off x="1092159" y="296306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Generate reusable test data for faster execution.</a:t>
            </a:r>
            <a:r>
              <a:rPr lang="en-US" sz="1600" b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5A606240-7C8F-4C2F-6999-2192624A0B82}"/>
              </a:ext>
            </a:extLst>
          </p:cNvPr>
          <p:cNvSpPr/>
          <p:nvPr/>
        </p:nvSpPr>
        <p:spPr>
          <a:xfrm>
            <a:off x="535021" y="3431476"/>
            <a:ext cx="457200" cy="457200"/>
          </a:xfrm>
          <a:prstGeom prst="ellipse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5A29979B-DAAF-77AA-DA08-BEFC195C51E0}"/>
              </a:ext>
            </a:extLst>
          </p:cNvPr>
          <p:cNvSpPr/>
          <p:nvPr/>
        </p:nvSpPr>
        <p:spPr>
          <a:xfrm>
            <a:off x="1119846" y="3479813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/>
                <a:cs typeface="Calibri"/>
              </a:rPr>
              <a:t>Reports</a:t>
            </a:r>
            <a:endParaRPr lang="en-US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A41189EB-3191-151C-B349-5C1B8ADEE126}"/>
              </a:ext>
            </a:extLst>
          </p:cNvPr>
          <p:cNvSpPr/>
          <p:nvPr/>
        </p:nvSpPr>
        <p:spPr>
          <a:xfrm>
            <a:off x="1112257" y="36709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Centralized insights into execution results and trends</a:t>
            </a: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.</a:t>
            </a:r>
            <a:endParaRPr lang="en-US" sz="1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83DBE46C-B019-76A7-A02F-BA868E4FF9B3}"/>
              </a:ext>
            </a:extLst>
          </p:cNvPr>
          <p:cNvSpPr/>
          <p:nvPr/>
        </p:nvSpPr>
        <p:spPr>
          <a:xfrm>
            <a:off x="6452362" y="1806829"/>
            <a:ext cx="5480050" cy="975448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1B34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CEF4D328-341C-DD15-428C-56B247CE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369" y="1915064"/>
            <a:ext cx="384048" cy="384048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964FF14B-65C6-1E60-6EEB-8EC21B86F474}"/>
              </a:ext>
            </a:extLst>
          </p:cNvPr>
          <p:cNvSpPr/>
          <p:nvPr/>
        </p:nvSpPr>
        <p:spPr>
          <a:xfrm>
            <a:off x="7083251" y="196008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0D57A0E7-D665-6D4F-26BC-F69353495F89}"/>
              </a:ext>
            </a:extLst>
          </p:cNvPr>
          <p:cNvSpPr/>
          <p:nvPr/>
        </p:nvSpPr>
        <p:spPr>
          <a:xfrm>
            <a:off x="7066407" y="2372078"/>
            <a:ext cx="4866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Calibri"/>
                <a:cs typeface="Calibri"/>
              </a:rPr>
              <a:t>Multiple User logins &amp; timestamps</a:t>
            </a: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49B89240-3AE8-1714-2950-2C2787D1127C}"/>
              </a:ext>
            </a:extLst>
          </p:cNvPr>
          <p:cNvSpPr/>
          <p:nvPr/>
        </p:nvSpPr>
        <p:spPr>
          <a:xfrm>
            <a:off x="6446012" y="3184743"/>
            <a:ext cx="5486400" cy="1843610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9651B394-3069-F8F0-603C-9D77F71C4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428" y="3577921"/>
            <a:ext cx="384048" cy="384048"/>
          </a:xfrm>
          <a:prstGeom prst="rect">
            <a:avLst/>
          </a:prstGeom>
        </p:spPr>
      </p:pic>
      <p:sp>
        <p:nvSpPr>
          <p:cNvPr id="43" name="Text 30">
            <a:extLst>
              <a:ext uri="{FF2B5EF4-FFF2-40B4-BE49-F238E27FC236}">
                <a16:creationId xmlns:a16="http://schemas.microsoft.com/office/drawing/2014/main" id="{B8DEA60E-10CF-66FA-FE0E-89E61D42233E}"/>
              </a:ext>
            </a:extLst>
          </p:cNvPr>
          <p:cNvSpPr/>
          <p:nvPr/>
        </p:nvSpPr>
        <p:spPr>
          <a:xfrm>
            <a:off x="7017512" y="351293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7B20EB5-4E9B-AC9B-2303-B128B09312BC}"/>
              </a:ext>
            </a:extLst>
          </p:cNvPr>
          <p:cNvSpPr/>
          <p:nvPr/>
        </p:nvSpPr>
        <p:spPr>
          <a:xfrm>
            <a:off x="6897476" y="3905219"/>
            <a:ext cx="4343400" cy="64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AI-Powered Test Summaries 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AI-Based Failure Analysis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Root Cause Suggestions </a:t>
            </a:r>
          </a:p>
          <a:p>
            <a:pPr marL="171450" indent="-171450">
              <a:lnSpc>
                <a:spcPct val="105000"/>
              </a:lnSpc>
              <a:buFont typeface="Calibri" panose="020B0604020202020204" pitchFamily="34" charset="0"/>
              <a:buChar char="•"/>
            </a:pPr>
            <a:endParaRPr lang="en-US" sz="1500" b="1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7745F82A-3CE8-06BA-57B8-898AC1440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Shape 23">
            <a:extLst>
              <a:ext uri="{FF2B5EF4-FFF2-40B4-BE49-F238E27FC236}">
                <a16:creationId xmlns:a16="http://schemas.microsoft.com/office/drawing/2014/main" id="{43DBA775-111E-B9DD-D506-FFA237E8D645}"/>
              </a:ext>
            </a:extLst>
          </p:cNvPr>
          <p:cNvSpPr/>
          <p:nvPr/>
        </p:nvSpPr>
        <p:spPr>
          <a:xfrm>
            <a:off x="561185" y="4136639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3DE75C-B7D3-B5D6-78FB-DD9F6119AFB2}"/>
              </a:ext>
            </a:extLst>
          </p:cNvPr>
          <p:cNvSpPr txBox="1"/>
          <p:nvPr/>
        </p:nvSpPr>
        <p:spPr>
          <a:xfrm>
            <a:off x="1011010" y="4088456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Scheduler </a:t>
            </a:r>
            <a:endParaRPr lang="en-US" sz="1600" b="1" dirty="0">
              <a:latin typeface="Calibri"/>
              <a:cs typeface="Calibri"/>
            </a:endParaRPr>
          </a:p>
          <a:p>
            <a:r>
              <a:rPr lang="en-US" sz="1600" b="1" dirty="0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Automate recurring and parameterized test executions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7C648-F961-D0DF-5D9D-956E2044DF79}"/>
              </a:ext>
            </a:extLst>
          </p:cNvPr>
          <p:cNvSpPr txBox="1"/>
          <p:nvPr/>
        </p:nvSpPr>
        <p:spPr>
          <a:xfrm>
            <a:off x="9318322" y="385706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Test Data Management Tool​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   Email &amp;Teams Notifications​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   Flaky Test Detection ​</a:t>
            </a:r>
          </a:p>
          <a:p>
            <a:pPr algn="ctr"/>
            <a:endParaRPr lang="en-US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0160280E-DB53-16A6-5204-13A139E46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74716"/>
              </p:ext>
            </p:extLst>
          </p:nvPr>
        </p:nvGraphicFramePr>
        <p:xfrm>
          <a:off x="789785" y="5697505"/>
          <a:ext cx="1060437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62">
                  <a:extLst>
                    <a:ext uri="{9D8B030D-6E8A-4147-A177-3AD203B41FA5}">
                      <a16:colId xmlns:a16="http://schemas.microsoft.com/office/drawing/2014/main" val="257991179"/>
                    </a:ext>
                  </a:extLst>
                </a:gridCol>
                <a:gridCol w="1468861">
                  <a:extLst>
                    <a:ext uri="{9D8B030D-6E8A-4147-A177-3AD203B41FA5}">
                      <a16:colId xmlns:a16="http://schemas.microsoft.com/office/drawing/2014/main" val="3737988962"/>
                    </a:ext>
                  </a:extLst>
                </a:gridCol>
                <a:gridCol w="1514912">
                  <a:extLst>
                    <a:ext uri="{9D8B030D-6E8A-4147-A177-3AD203B41FA5}">
                      <a16:colId xmlns:a16="http://schemas.microsoft.com/office/drawing/2014/main" val="3234516299"/>
                    </a:ext>
                  </a:extLst>
                </a:gridCol>
                <a:gridCol w="1305066">
                  <a:extLst>
                    <a:ext uri="{9D8B030D-6E8A-4147-A177-3AD203B41FA5}">
                      <a16:colId xmlns:a16="http://schemas.microsoft.com/office/drawing/2014/main" val="64408704"/>
                    </a:ext>
                  </a:extLst>
                </a:gridCol>
                <a:gridCol w="1317858">
                  <a:extLst>
                    <a:ext uri="{9D8B030D-6E8A-4147-A177-3AD203B41FA5}">
                      <a16:colId xmlns:a16="http://schemas.microsoft.com/office/drawing/2014/main" val="2113656067"/>
                    </a:ext>
                  </a:extLst>
                </a:gridCol>
                <a:gridCol w="2123932">
                  <a:extLst>
                    <a:ext uri="{9D8B030D-6E8A-4147-A177-3AD203B41FA5}">
                      <a16:colId xmlns:a16="http://schemas.microsoft.com/office/drawing/2014/main" val="3742892743"/>
                    </a:ext>
                  </a:extLst>
                </a:gridCol>
                <a:gridCol w="1312787">
                  <a:extLst>
                    <a:ext uri="{9D8B030D-6E8A-4147-A177-3AD203B41FA5}">
                      <a16:colId xmlns:a16="http://schemas.microsoft.com/office/drawing/2014/main" val="4235273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UI</a:t>
                      </a: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endParaRPr lang="en-US" sz="1600" err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CI/CD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Reports    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Integrations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5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Angular, TypeScript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Node.js, Express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Jenkins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JUnit XML, Allure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 Portal, SVN, Lambda Test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SQLite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2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F04572-779B-6134-91B7-E6C774B41335}"/>
              </a:ext>
            </a:extLst>
          </p:cNvPr>
          <p:cNvSpPr txBox="1"/>
          <p:nvPr/>
        </p:nvSpPr>
        <p:spPr>
          <a:xfrm>
            <a:off x="548640" y="1957099"/>
            <a:ext cx="457200" cy="457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244D0-EA26-9882-3737-76F744AF8487}"/>
              </a:ext>
            </a:extLst>
          </p:cNvPr>
          <p:cNvSpPr txBox="1"/>
          <p:nvPr/>
        </p:nvSpPr>
        <p:spPr>
          <a:xfrm>
            <a:off x="548640" y="2655608"/>
            <a:ext cx="457200" cy="457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AD1A0-9BAF-37D9-15FF-3E9107BDC6B1}"/>
              </a:ext>
            </a:extLst>
          </p:cNvPr>
          <p:cNvSpPr txBox="1"/>
          <p:nvPr/>
        </p:nvSpPr>
        <p:spPr>
          <a:xfrm>
            <a:off x="601556" y="4136639"/>
            <a:ext cx="457200" cy="457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AFA1F-29FA-749F-A4D1-EEA68393879D}"/>
              </a:ext>
            </a:extLst>
          </p:cNvPr>
          <p:cNvSpPr txBox="1"/>
          <p:nvPr/>
        </p:nvSpPr>
        <p:spPr>
          <a:xfrm>
            <a:off x="553810" y="3398032"/>
            <a:ext cx="457200" cy="457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71009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888200" y="909756"/>
            <a:ext cx="4724400" cy="32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1038200" y="1118551"/>
            <a:ext cx="4424400" cy="6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Bef>
                <a:spcPts val="700"/>
              </a:spcBef>
            </a:pPr>
            <a:r>
              <a:rPr lang="en-US" b="1" dirty="0">
                <a:solidFill>
                  <a:srgbClr val="24466E"/>
                </a:solidFill>
                <a:ea typeface="Calibri"/>
                <a:cs typeface="Calibri"/>
              </a:rPr>
              <a:t>ECOMM MAINTAINENCE &amp; SHADOWING 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​</a:t>
            </a:r>
          </a:p>
          <a:p>
            <a:pPr algn="ctr"/>
            <a:endParaRPr lang="en-US" sz="1800" b="1" kern="0" spc="200" dirty="0">
              <a:solidFill>
                <a:srgbClr val="24466E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1088200" y="1919999"/>
            <a:ext cx="4324400" cy="203830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Received KT from the Everest team on test suites across all brands — suite ownership, execution strategy, and Jenkins auto-scheduled jobs.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Analyzing daily Sanity Suite failures and performing RCA across automation, environment, and application issues.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endParaRPr lang="en-US" sz="1600" dirty="0">
              <a:solidFill>
                <a:srgbClr val="33415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838200" y="4590410"/>
            <a:ext cx="9772522" cy="1979589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endParaRPr lang="en-US" dirty="0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Automated validation of Data Layer variables using Playwright across end-to-end user journeys.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Dynamic comparison of Data Layer values against UI data, business rules, and expected behavior.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 sz="1600" dirty="0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-203363" y="233104"/>
            <a:ext cx="11172375" cy="8617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  ONGOING ACTIVITIES – AUTOMATION TEAM</a:t>
            </a:r>
          </a:p>
          <a:p>
            <a:endParaRPr lang="en-US"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461527" y="501866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Bef>
                <a:spcPts val="700"/>
              </a:spcBef>
            </a:pPr>
            <a:r>
              <a:rPr lang="en-US" b="1" dirty="0">
                <a:solidFill>
                  <a:srgbClr val="24466E"/>
                </a:solidFill>
                <a:ea typeface="Calibri"/>
                <a:cs typeface="Calibri"/>
              </a:rPr>
              <a:t>DATA LAYER VALIDATION</a:t>
            </a:r>
          </a:p>
          <a:p>
            <a:pPr algn="ctr">
              <a:lnSpc>
                <a:spcPct val="110000"/>
              </a:lnSpc>
              <a:spcBef>
                <a:spcPts val="700"/>
              </a:spcBef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5935929" y="909756"/>
            <a:ext cx="4724400" cy="32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pPr algn="ctr">
              <a:lnSpc>
                <a:spcPct val="110000"/>
              </a:lnSpc>
              <a:spcBef>
                <a:spcPts val="700"/>
              </a:spcBef>
            </a:pPr>
            <a:r>
              <a:rPr lang="en-US" sz="1800" b="1" i="0" u="none" strike="noStrike" baseline="0" dirty="0">
                <a:solidFill>
                  <a:srgbClr val="24466E"/>
                </a:solidFill>
                <a:latin typeface="+mj-lt"/>
                <a:ea typeface="Calibri"/>
                <a:cs typeface="Calibri"/>
              </a:rPr>
              <a:t>ECOMM PREMIUM REGRESSION SUITE — SPRINT 26.16 /26.17</a:t>
            </a:r>
            <a:r>
              <a:rPr lang="en-US" sz="1800" b="0" i="0" dirty="0">
                <a:solidFill>
                  <a:srgbClr val="000000"/>
                </a:solidFill>
                <a:latin typeface="+mj-lt"/>
                <a:ea typeface="Calibri"/>
                <a:cs typeface="Calibri"/>
              </a:rPr>
              <a:t>​</a:t>
            </a:r>
          </a:p>
          <a:p>
            <a:pPr algn="ctr">
              <a:lnSpc>
                <a:spcPct val="110000"/>
              </a:lnSpc>
              <a:spcBef>
                <a:spcPts val="700"/>
              </a:spcBef>
            </a:pPr>
            <a:b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Automation scripting completed in Sprint 26.16 for AT and Loft — both Desktop and Mobile Web)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 dirty="0">
                <a:solidFill>
                  <a:srgbClr val="24466E"/>
                </a:solidFill>
                <a:ea typeface="Calibri"/>
                <a:cs typeface="Calibri"/>
              </a:rPr>
              <a:t>84–85% pass rate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Report shared with the Everest Automation team for approval on </a:t>
            </a:r>
            <a:r>
              <a:rPr lang="en-US" sz="1600" b="1" dirty="0">
                <a:solidFill>
                  <a:srgbClr val="1E3A5C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8617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PLANNED ACTIVITIES – AUTOMATION TEAM</a:t>
            </a:r>
          </a:p>
          <a:p>
            <a:pPr algn="ctr"/>
            <a:endParaRPr lang="en-US"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/>
            <a:endParaRPr lang="en-US" sz="1800" b="1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is built on selenium/java to be migrated to playwright/typescript(AFTA FRAMEWORK)</a:t>
            </a:r>
            <a:b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Execution will be based on priority based testcases.</a:t>
            </a:r>
            <a:br>
              <a:rPr lang="en-US" sz="1600">
                <a:latin typeface="Calibri"/>
                <a:ea typeface="Calibri"/>
                <a:cs typeface="Calibri"/>
              </a:rPr>
            </a:br>
            <a:br>
              <a:rPr lang="en-US" sz="1600">
                <a:latin typeface="Calibri"/>
                <a:ea typeface="Calibri"/>
                <a:cs typeface="Calibri"/>
              </a:rPr>
            </a:br>
            <a:endParaRPr lang="en-US" sz="160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60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CHICOS SHADOWING/MAINTAINANCE</a:t>
            </a:r>
          </a:p>
          <a:p>
            <a:pPr algn="ctr"/>
            <a:endParaRPr lang="en-US" sz="1800" b="1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Framework analysis is currently underway, with shadowing of the Chicos suites scheduled to begin shortly.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/>
            <a:endParaRPr lang="en-US" sz="1000" b="1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Implementation of multiple user login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User scheduling history with timestamp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AI-powered test summaries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hankYou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  <p:sp>
        <p:nvSpPr>
          <p:cNvPr id="710" name="TY Sub"/>
          <p:cNvSpPr txBox="1"/>
          <p:nvPr/>
        </p:nvSpPr>
        <p:spPr>
          <a:xfrm>
            <a:off x="1525712" y="4520000"/>
            <a:ext cx="9142288" cy="4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24466E"/>
                </a:solidFill>
                <a:latin typeface="Calibri"/>
                <a:cs typeface="Calibri"/>
              </a:rPr>
              <a:t>Questions &amp; Discussion</a:t>
            </a:r>
          </a:p>
        </p:txBody>
      </p:sp>
      <p:sp>
        <p:nvSpPr>
          <p:cNvPr id="711" name="TY Contact"/>
          <p:cNvSpPr txBox="1"/>
          <p:nvPr/>
        </p:nvSpPr>
        <p:spPr>
          <a:xfrm>
            <a:off x="1525712" y="5080000"/>
            <a:ext cx="9142288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>
                <a:solidFill>
                  <a:srgbClr val="64748B"/>
                </a:solidFill>
                <a:latin typeface="Calibri"/>
                <a:cs typeface="Calibri"/>
              </a:rPr>
              <a:t>Automation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5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1055</Words>
  <Application>Microsoft Office PowerPoint</Application>
  <PresentationFormat>Widescreen</PresentationFormat>
  <Paragraphs>174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poeyahmozhi tholkappian</cp:lastModifiedBy>
  <cp:revision>46</cp:revision>
  <dcterms:created xsi:type="dcterms:W3CDTF">2026-06-17T07:36:54Z</dcterms:created>
  <dcterms:modified xsi:type="dcterms:W3CDTF">2026-06-18T12:41:06Z</dcterms:modified>
</cp:coreProperties>
</file>